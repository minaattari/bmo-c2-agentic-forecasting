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03" autoAdjust="0"/>
    <p:restoredTop sz="67331" autoAdjust="0"/>
  </p:normalViewPr>
  <p:slideViewPr>
    <p:cSldViewPr snapToGrid="0" snapToObjects="1">
      <p:cViewPr varScale="1">
        <p:scale>
          <a:sx n="61" d="100"/>
          <a:sy n="61" d="100"/>
        </p:scale>
        <p:origin x="17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5496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DCFFD1-8F89-4C7B-BE9A-FFA906F26A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77E3D27B-7524-4FC5-B233-DDB9AE556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1097280" cy="457200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405EF1BF-DE44-41CF-B6BC-18A5865F732F}"/>
              </a:ext>
            </a:extLst>
          </p:cNvPr>
          <p:cNvSpPr>
            <a:spLocks noGrp="1"/>
          </p:cNvSpPr>
          <p:nvPr/>
        </p:nvSpPr>
        <p:spPr>
          <a:xfrm>
            <a:off x="6400800" y="246888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>
            <a:extLst>
              <a:ext uri="{FF2B5EF4-FFF2-40B4-BE49-F238E27FC236}">
                <a16:creationId xmlns:a16="http://schemas.microsoft.com/office/drawing/2014/main" id="{B7CC66F1-C768-44D6-983B-E0522B1F2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29184"/>
            <a:ext cx="2194560" cy="303142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235C90B2-CC6C-4138-A753-CC83DAA03783}"/>
              </a:ext>
            </a:extLst>
          </p:cNvPr>
          <p:cNvSpPr>
            <a:spLocks noGrp="1"/>
          </p:cNvSpPr>
          <p:nvPr/>
        </p:nvSpPr>
        <p:spPr>
          <a:xfrm>
            <a:off x="548640" y="9144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 spc="200">
                <a:solidFill>
                  <a:srgbClr val="8EC9EC"/>
                </a:solidFill>
                <a:latin typeface="Arial"/>
                <a:ea typeface="Arial"/>
                <a:cs typeface="Arial"/>
              </a:rPr>
              <a:t>AGENTIC AI FORECASTING BOOTCAMP</a:t>
            </a:r>
            <a:endParaRPr sz="95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D361F54-7932-48C5-ABD2-9472EA81933F}"/>
              </a:ext>
            </a:extLst>
          </p:cNvPr>
          <p:cNvSpPr>
            <a:spLocks noGrp="1"/>
          </p:cNvSpPr>
          <p:nvPr/>
        </p:nvSpPr>
        <p:spPr>
          <a:xfrm>
            <a:off x="548639" y="1280160"/>
            <a:ext cx="7979343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Forecasting U.S. Manufacturing Stress with a Governed Adaptive Agent</a:t>
            </a:r>
            <a:endParaRPr sz="28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31C7D8A-36FC-4182-8487-EBC2A16D6381}"/>
              </a:ext>
            </a:extLst>
          </p:cNvPr>
          <p:cNvSpPr>
            <a:spLocks noGrp="1"/>
          </p:cNvSpPr>
          <p:nvPr/>
        </p:nvSpPr>
        <p:spPr>
          <a:xfrm>
            <a:off x="548640" y="2743200"/>
            <a:ext cx="7712242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C9DCEB"/>
                </a:solidFill>
                <a:latin typeface="Arial"/>
                <a:ea typeface="Arial"/>
                <a:cs typeface="Arial"/>
              </a:rPr>
              <a:t>What we learned combining a statistical anchor, an LLM analyst and auditable agent memory</a:t>
            </a:r>
            <a:endParaRPr sz="125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9960333-B137-414B-BBDA-942601E78E81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45720" cy="64008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9A9EDBA-F4D9-4B8A-A5BB-7EC863F423D9}"/>
              </a:ext>
            </a:extLst>
          </p:cNvPr>
          <p:cNvSpPr>
            <a:spLocks noGrp="1"/>
          </p:cNvSpPr>
          <p:nvPr/>
        </p:nvSpPr>
        <p:spPr>
          <a:xfrm>
            <a:off x="731520" y="36118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BMO Two</a:t>
            </a:r>
            <a:endParaRPr sz="1300"/>
          </a:p>
          <a:p>
            <a:pPr marL="0" indent="0">
              <a:buNone/>
            </a:pPr>
            <a:r>
              <a:rPr sz="10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October 2026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620327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4373B4-A95E-4D42-BA4F-1501C06ABB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0C390B-9581-405F-AE4D-64CB988E633E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TEAM BMO TWO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83B5A8-8539-4172-AB7F-8933EF00EAE8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Meet the Team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1C113FC4-4238-4875-9B1E-5D64564CE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1A4C06EF-73A9-429C-8745-D52B4665F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AA861B3-1B61-4530-9470-ABC997C23FEE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88CB929-EB70-4FA3-9A89-AC2BD1A346C6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6BF7987-4CE4-4C33-8D6B-BF9C358B1EAA}"/>
              </a:ext>
            </a:extLst>
          </p:cNvPr>
          <p:cNvSpPr>
            <a:spLocks noGrp="1"/>
          </p:cNvSpPr>
          <p:nvPr/>
        </p:nvSpPr>
        <p:spPr>
          <a:xfrm>
            <a:off x="402336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AE677E0-B68C-4E5F-95E6-634C1E4F9D2A}"/>
              </a:ext>
            </a:extLst>
          </p:cNvPr>
          <p:cNvSpPr>
            <a:spLocks noGrp="1"/>
          </p:cNvSpPr>
          <p:nvPr/>
        </p:nvSpPr>
        <p:spPr>
          <a:xfrm>
            <a:off x="402336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AA4B1F2-4BF0-4AD7-A47E-451A57F48A42}"/>
              </a:ext>
            </a:extLst>
          </p:cNvPr>
          <p:cNvSpPr>
            <a:spLocks noGrp="1"/>
          </p:cNvSpPr>
          <p:nvPr/>
        </p:nvSpPr>
        <p:spPr>
          <a:xfrm>
            <a:off x="653796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C483333-F82A-48E0-AEF3-C0A688A6B03F}"/>
              </a:ext>
            </a:extLst>
          </p:cNvPr>
          <p:cNvSpPr>
            <a:spLocks noGrp="1"/>
          </p:cNvSpPr>
          <p:nvPr/>
        </p:nvSpPr>
        <p:spPr>
          <a:xfrm>
            <a:off x="493776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Mina Attari</a:t>
            </a:r>
            <a:endParaRPr sz="12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5ECB514-5FDD-44B4-8ACF-7238723F0458}"/>
              </a:ext>
            </a:extLst>
          </p:cNvPr>
          <p:cNvSpPr>
            <a:spLocks noGrp="1"/>
          </p:cNvSpPr>
          <p:nvPr/>
        </p:nvSpPr>
        <p:spPr>
          <a:xfrm>
            <a:off x="493776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Wholesale </a:t>
            </a:r>
            <a:r>
              <a:rPr sz="900" dirty="0" smtClean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Credit</a:t>
            </a:r>
            <a:r>
              <a:rPr lang="en-CA" sz="900" dirty="0" smtClean="0">
                <a:solidFill>
                  <a:srgbClr val="1F2937"/>
                </a:solidFill>
                <a:latin typeface="Arial"/>
                <a:ea typeface="Arial"/>
                <a:cs typeface="Arial"/>
              </a:rPr>
              <a:t> Methodology</a:t>
            </a:r>
            <a:endParaRPr sz="9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4DB4F7B-0976-42AF-AA65-785138F2DCC4}"/>
              </a:ext>
            </a:extLst>
          </p:cNvPr>
          <p:cNvSpPr>
            <a:spLocks noGrp="1"/>
          </p:cNvSpPr>
          <p:nvPr/>
        </p:nvSpPr>
        <p:spPr>
          <a:xfrm>
            <a:off x="2121408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F6921C3B-D47E-48C7-93E6-973DDDC7CFB1}"/>
              </a:ext>
            </a:extLst>
          </p:cNvPr>
          <p:cNvSpPr>
            <a:spLocks noGrp="1"/>
          </p:cNvSpPr>
          <p:nvPr/>
        </p:nvSpPr>
        <p:spPr>
          <a:xfrm>
            <a:off x="2121408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28117645-BFF9-4450-8D59-9A49D2C49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868" y="1508760"/>
            <a:ext cx="1051560" cy="1051560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8" name="Shape 12">
            <a:extLst>
              <a:ext uri="{FF2B5EF4-FFF2-40B4-BE49-F238E27FC236}">
                <a16:creationId xmlns:a16="http://schemas.microsoft.com/office/drawing/2014/main" id="{9E4E39DF-336C-4781-97CC-D764D9AC5A5A}"/>
              </a:ext>
            </a:extLst>
          </p:cNvPr>
          <p:cNvSpPr>
            <a:spLocks noGrp="1"/>
          </p:cNvSpPr>
          <p:nvPr/>
        </p:nvSpPr>
        <p:spPr>
          <a:xfrm>
            <a:off x="2372868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7DD69DA-450A-4FA2-9A6A-8BD060CEFF69}"/>
              </a:ext>
            </a:extLst>
          </p:cNvPr>
          <p:cNvSpPr>
            <a:spLocks noGrp="1"/>
          </p:cNvSpPr>
          <p:nvPr/>
        </p:nvSpPr>
        <p:spPr>
          <a:xfrm>
            <a:off x="2212848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Nitya Joshi</a:t>
            </a:r>
            <a:endParaRPr sz="120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785B506B-2D74-4F0A-8034-4DB5BFFE990E}"/>
              </a:ext>
            </a:extLst>
          </p:cNvPr>
          <p:cNvSpPr>
            <a:spLocks noGrp="1"/>
          </p:cNvSpPr>
          <p:nvPr/>
        </p:nvSpPr>
        <p:spPr>
          <a:xfrm>
            <a:off x="2212848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Retail IFRS 9 / CECL Model Development</a:t>
            </a:r>
            <a:endParaRPr sz="90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59C89324-F2BF-452E-B53B-04C78491CE07}"/>
              </a:ext>
            </a:extLst>
          </p:cNvPr>
          <p:cNvSpPr>
            <a:spLocks noGrp="1"/>
          </p:cNvSpPr>
          <p:nvPr/>
        </p:nvSpPr>
        <p:spPr>
          <a:xfrm>
            <a:off x="3840480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67C6BFE-4174-4849-B709-DFF70CF5F3F6}"/>
              </a:ext>
            </a:extLst>
          </p:cNvPr>
          <p:cNvSpPr>
            <a:spLocks noGrp="1"/>
          </p:cNvSpPr>
          <p:nvPr/>
        </p:nvSpPr>
        <p:spPr>
          <a:xfrm>
            <a:off x="3840480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4">
            <a:extLst>
              <a:ext uri="{FF2B5EF4-FFF2-40B4-BE49-F238E27FC236}">
                <a16:creationId xmlns:a16="http://schemas.microsoft.com/office/drawing/2014/main" id="{93AD0539-49C0-424E-B7ED-68522BFC69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940" y="1508760"/>
            <a:ext cx="1051560" cy="1051560"/>
          </a:xfrm>
          <a:prstGeom prst="rect">
            <a:avLst/>
          </a:prstGeom>
        </p:spPr>
      </p:pic>
      <p:sp>
        <p:nvSpPr>
          <p:cNvPr id="24" name="Shape 17">
            <a:extLst>
              <a:ext uri="{FF2B5EF4-FFF2-40B4-BE49-F238E27FC236}">
                <a16:creationId xmlns:a16="http://schemas.microsoft.com/office/drawing/2014/main" id="{CF1C8E33-BE39-4DA2-B676-9D415E963B1A}"/>
              </a:ext>
            </a:extLst>
          </p:cNvPr>
          <p:cNvSpPr>
            <a:spLocks noGrp="1"/>
          </p:cNvSpPr>
          <p:nvPr/>
        </p:nvSpPr>
        <p:spPr>
          <a:xfrm>
            <a:off x="4091940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A8A4FFB6-8410-4921-997A-659D7C982380}"/>
              </a:ext>
            </a:extLst>
          </p:cNvPr>
          <p:cNvSpPr>
            <a:spLocks noGrp="1"/>
          </p:cNvSpPr>
          <p:nvPr/>
        </p:nvSpPr>
        <p:spPr>
          <a:xfrm>
            <a:off x="3931920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Pratyush Patodia</a:t>
            </a:r>
            <a:endParaRPr sz="120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FE7DE06A-091D-4860-BA12-541C129BB8D9}"/>
              </a:ext>
            </a:extLst>
          </p:cNvPr>
          <p:cNvSpPr>
            <a:spLocks noGrp="1"/>
          </p:cNvSpPr>
          <p:nvPr/>
        </p:nvSpPr>
        <p:spPr>
          <a:xfrm>
            <a:off x="3931920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IFRS 9 Wholesale Model Development</a:t>
            </a:r>
            <a:endParaRPr sz="90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B99E51A8-7FBB-4E6D-BBE4-C92D3F0FAECC}"/>
              </a:ext>
            </a:extLst>
          </p:cNvPr>
          <p:cNvSpPr>
            <a:spLocks noGrp="1"/>
          </p:cNvSpPr>
          <p:nvPr/>
        </p:nvSpPr>
        <p:spPr>
          <a:xfrm>
            <a:off x="5559552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F68266FD-BD27-43B7-9DE8-F54DA48B282E}"/>
              </a:ext>
            </a:extLst>
          </p:cNvPr>
          <p:cNvSpPr>
            <a:spLocks noGrp="1"/>
          </p:cNvSpPr>
          <p:nvPr/>
        </p:nvSpPr>
        <p:spPr>
          <a:xfrm>
            <a:off x="5559552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5">
            <a:extLst>
              <a:ext uri="{FF2B5EF4-FFF2-40B4-BE49-F238E27FC236}">
                <a16:creationId xmlns:a16="http://schemas.microsoft.com/office/drawing/2014/main" id="{F3F82BA4-6FE5-4C35-B067-10AE5CF189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1012" y="1508760"/>
            <a:ext cx="1051560" cy="1051560"/>
          </a:xfrm>
          <a:prstGeom prst="rect">
            <a:avLst/>
          </a:prstGeom>
        </p:spPr>
      </p:pic>
      <p:sp>
        <p:nvSpPr>
          <p:cNvPr id="30" name="Shape 22">
            <a:extLst>
              <a:ext uri="{FF2B5EF4-FFF2-40B4-BE49-F238E27FC236}">
                <a16:creationId xmlns:a16="http://schemas.microsoft.com/office/drawing/2014/main" id="{EBDB7093-6E90-4CC4-BF28-9D621B8EF5F5}"/>
              </a:ext>
            </a:extLst>
          </p:cNvPr>
          <p:cNvSpPr>
            <a:spLocks noGrp="1"/>
          </p:cNvSpPr>
          <p:nvPr/>
        </p:nvSpPr>
        <p:spPr>
          <a:xfrm>
            <a:off x="5811012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16E40251-CE9D-436C-9D91-F0C445736E08}"/>
              </a:ext>
            </a:extLst>
          </p:cNvPr>
          <p:cNvSpPr>
            <a:spLocks noGrp="1"/>
          </p:cNvSpPr>
          <p:nvPr/>
        </p:nvSpPr>
        <p:spPr>
          <a:xfrm>
            <a:off x="5650992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Vaibhav K Beohar</a:t>
            </a:r>
            <a:endParaRPr sz="120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AF9BB834-CB37-49A0-993A-77904A4A56C3}"/>
              </a:ext>
            </a:extLst>
          </p:cNvPr>
          <p:cNvSpPr>
            <a:spLocks noGrp="1"/>
          </p:cNvSpPr>
          <p:nvPr/>
        </p:nvSpPr>
        <p:spPr>
          <a:xfrm>
            <a:off x="5650992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Machine Learning</a:t>
            </a:r>
            <a:endParaRPr sz="9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3D05A749-9BEC-48F6-AEAB-4A66585FB2AB}"/>
              </a:ext>
            </a:extLst>
          </p:cNvPr>
          <p:cNvSpPr>
            <a:spLocks noGrp="1"/>
          </p:cNvSpPr>
          <p:nvPr/>
        </p:nvSpPr>
        <p:spPr>
          <a:xfrm>
            <a:off x="7278624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450B452C-B4A0-4D0C-B496-00AF63A82500}"/>
              </a:ext>
            </a:extLst>
          </p:cNvPr>
          <p:cNvSpPr>
            <a:spLocks noGrp="1"/>
          </p:cNvSpPr>
          <p:nvPr/>
        </p:nvSpPr>
        <p:spPr>
          <a:xfrm>
            <a:off x="7278624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B2388091-28F6-4A7A-A206-11175F3C9334}"/>
              </a:ext>
            </a:extLst>
          </p:cNvPr>
          <p:cNvSpPr>
            <a:spLocks noGrp="1"/>
          </p:cNvSpPr>
          <p:nvPr/>
        </p:nvSpPr>
        <p:spPr>
          <a:xfrm>
            <a:off x="7530084" y="1508760"/>
            <a:ext cx="1051560" cy="1051560"/>
          </a:xfrm>
          <a:prstGeom prst="ellipse">
            <a:avLst/>
          </a:prstGeom>
          <a:solidFill>
            <a:srgbClr val="E6F2FA"/>
          </a:solidFill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599B2C83-8D06-4B36-90FD-5D604F595C83}"/>
              </a:ext>
            </a:extLst>
          </p:cNvPr>
          <p:cNvSpPr>
            <a:spLocks noGrp="1"/>
          </p:cNvSpPr>
          <p:nvPr/>
        </p:nvSpPr>
        <p:spPr>
          <a:xfrm>
            <a:off x="7530084" y="150876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24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C0574D6-F90C-4955-AD44-1F96C699AC99}"/>
              </a:ext>
            </a:extLst>
          </p:cNvPr>
          <p:cNvSpPr>
            <a:spLocks noGrp="1"/>
          </p:cNvSpPr>
          <p:nvPr/>
        </p:nvSpPr>
        <p:spPr>
          <a:xfrm>
            <a:off x="7370064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Navid Sabbaghi</a:t>
            </a:r>
            <a:endParaRPr sz="120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13713568-33B4-4639-8B02-15E47B63A4FA}"/>
              </a:ext>
            </a:extLst>
          </p:cNvPr>
          <p:cNvSpPr>
            <a:spLocks noGrp="1"/>
          </p:cNvSpPr>
          <p:nvPr/>
        </p:nvSpPr>
        <p:spPr>
          <a:xfrm>
            <a:off x="7370064" y="324612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Specialist, IC</a:t>
            </a:r>
            <a:endParaRPr sz="90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7" t="15967" r="29808" b="44856"/>
          <a:stretch/>
        </p:blipFill>
        <p:spPr>
          <a:xfrm>
            <a:off x="654156" y="1508760"/>
            <a:ext cx="1051200" cy="1051200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" t="9959" r="7365" b="8149"/>
          <a:stretch/>
        </p:blipFill>
        <p:spPr>
          <a:xfrm>
            <a:off x="7530447" y="1509120"/>
            <a:ext cx="1051197" cy="1051200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7023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02EF3E-CEFC-4C15-8464-21B2DB41A5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046D1C-2131-4F62-B34A-20070905F150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WHY THIS MATTERS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40E26B-B3A6-4BF7-A5C4-EE4410E6149B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Business Problem &amp; Opportunity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973299FD-B17E-4D95-9E5D-6087E9A86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15373F6A-450C-4124-86D3-C2E54B4B2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DF7BA47-4C7B-4413-94D2-9AE627ACF624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03AF9DD-E5BA-4104-8C74-5EBFE5F5B010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FCD4D95-2034-4182-81CD-3FA96AB8E9EA}"/>
              </a:ext>
            </a:extLst>
          </p:cNvPr>
          <p:cNvSpPr>
            <a:spLocks noGrp="1"/>
          </p:cNvSpPr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Challenge</a:t>
            </a:r>
            <a:endParaRPr sz="13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38834DE-98B2-4816-ACF3-F0C504F921AD}"/>
              </a:ext>
            </a:extLst>
          </p:cNvPr>
          <p:cNvSpPr>
            <a:spLocks noGrp="1"/>
          </p:cNvSpPr>
          <p:nvPr/>
        </p:nvSpPr>
        <p:spPr>
          <a:xfrm>
            <a:off x="411480" y="1371600"/>
            <a:ext cx="393192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Credit teams monitor sector exposures and want earlier warning when an industry is heading into stress.</a:t>
            </a:r>
            <a:endParaRPr sz="100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Manufacturing stress is rare: 20 of 320 months (2000-2026) met our definition, clustered in 2008-09, 2020 and brief 2021-22 episodes.</a:t>
            </a:r>
            <a:endParaRPr sz="100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Traditional models struggle with few events, and analyst judgment is hard to make consistent and auditable.</a:t>
            </a:r>
            <a:endParaRPr sz="10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15D8AEE-6BCE-4AC3-9640-C9BC9A64F530}"/>
              </a:ext>
            </a:extLst>
          </p:cNvPr>
          <p:cNvSpPr>
            <a:spLocks noGrp="1"/>
          </p:cNvSpPr>
          <p:nvPr/>
        </p:nvSpPr>
        <p:spPr>
          <a:xfrm>
            <a:off x="411480" y="30632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Opportunity</a:t>
            </a:r>
            <a:endParaRPr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CB6D5C7-52DC-4218-9BAA-8405F1FFF689}"/>
              </a:ext>
            </a:extLst>
          </p:cNvPr>
          <p:cNvSpPr>
            <a:spLocks noGrp="1"/>
          </p:cNvSpPr>
          <p:nvPr/>
        </p:nvSpPr>
        <p:spPr>
          <a:xfrm>
            <a:off x="411480" y="3383280"/>
            <a:ext cx="39319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Agents can read many signals, explain their view, and combine statistics with judgment.</a:t>
            </a:r>
            <a:endParaRPr sz="100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If governed well, they could scale analyst-style monitoring across sectors with a full audit trail.</a:t>
            </a:r>
            <a:endParaRPr sz="10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F472492-567C-431E-8F7F-17F29A383F22}"/>
              </a:ext>
            </a:extLst>
          </p:cNvPr>
          <p:cNvSpPr>
            <a:spLocks noGrp="1"/>
          </p:cNvSpPr>
          <p:nvPr/>
        </p:nvSpPr>
        <p:spPr>
          <a:xfrm>
            <a:off x="4572000" y="105156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Share of months in manufacturing stress, by year (%)</a:t>
            </a:r>
            <a:endParaRPr sz="105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155A03BA-4241-4136-BE0E-A1CC1EA3357E}"/>
              </a:ext>
            </a:extLst>
          </p:cNvPr>
          <p:cNvSpPr>
            <a:spLocks noGrp="1"/>
          </p:cNvSpPr>
          <p:nvPr/>
        </p:nvSpPr>
        <p:spPr>
          <a:xfrm>
            <a:off x="4572000" y="3886200"/>
            <a:ext cx="4251960" cy="777240"/>
          </a:xfrm>
          <a:prstGeom prst="rect">
            <a:avLst/>
          </a:prstGeom>
          <a:solidFill>
            <a:srgbClr val="E6F2FA"/>
          </a:solidFill>
          <a:ln w="12700">
            <a:solidFill>
              <a:srgbClr val="E6F2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C88BFDD-282A-4123-871C-361F951D9660}"/>
              </a:ext>
            </a:extLst>
          </p:cNvPr>
          <p:cNvSpPr>
            <a:spLocks noGrp="1"/>
          </p:cNvSpPr>
          <p:nvPr/>
        </p:nvSpPr>
        <p:spPr>
          <a:xfrm>
            <a:off x="4681728" y="3913632"/>
            <a:ext cx="40690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Target definition: </a:t>
            </a: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a month is "stressed" when U.S. manufacturing production (FRED IPMAN) has fallen by 2% or more over the previous 3 months. We forecast this 3 months ahead.</a:t>
            </a:r>
            <a:endParaRPr sz="9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EABC80-0E95-4FBE-9DE5-6259B18315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000" t="25778" r="3500" b="25333"/>
          <a:stretch/>
        </p:blipFill>
        <p:spPr>
          <a:xfrm>
            <a:off x="4480560" y="1325880"/>
            <a:ext cx="43434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9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B84507-4640-44FA-A6E4-94514C8B6E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DC6D06-256B-4992-8BAE-9BA24E8810D7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HIGH-LEVEL APPROACH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F0637F-95F1-4750-ACB1-CA1DEE861896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Our Solution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80A84339-5886-438B-BBDF-19238CA2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11C8BA69-BD2E-44B1-A036-502D9AEBF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364B891-A9A9-4979-9A46-54376867C759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4BC81E7-CF4C-43E8-B86F-54CB97926827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3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B1094C6-1C46-4EF2-872B-FA1107627FC5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83210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forecasting workbench that pairs a transparent statistical model with an LLM analyst. The model provides the starting probability; the agent reviews current evidence, explains its view, and can nudge the forecast only within a fixed bound. Every durable change to the agent's strategy is versioned and logged.</a:t>
            </a:r>
            <a:endParaRPr sz="11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972256A-F3EA-4D42-835D-B2226D82D4DA}"/>
              </a:ext>
            </a:extLst>
          </p:cNvPr>
          <p:cNvSpPr>
            <a:spLocks noGrp="1"/>
          </p:cNvSpPr>
          <p:nvPr/>
        </p:nvSpPr>
        <p:spPr>
          <a:xfrm>
            <a:off x="411480" y="1828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Key Capabilities</a:t>
            </a:r>
            <a:endParaRPr sz="13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0AC3EC1-46A3-49B1-9733-DC80C2192AE5}"/>
              </a:ext>
            </a:extLst>
          </p:cNvPr>
          <p:cNvSpPr>
            <a:spLocks noGrp="1"/>
          </p:cNvSpPr>
          <p:nvPr/>
        </p:nvSpPr>
        <p:spPr>
          <a:xfrm>
            <a:off x="411480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9007CFA-25ED-45EC-8738-6A6E887D7A95}"/>
              </a:ext>
            </a:extLst>
          </p:cNvPr>
          <p:cNvSpPr>
            <a:spLocks noGrp="1"/>
          </p:cNvSpPr>
          <p:nvPr/>
        </p:nvSpPr>
        <p:spPr>
          <a:xfrm>
            <a:off x="411480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72A199C-F9FE-4C07-A353-886C04239FF4}"/>
              </a:ext>
            </a:extLst>
          </p:cNvPr>
          <p:cNvSpPr>
            <a:spLocks noGrp="1"/>
          </p:cNvSpPr>
          <p:nvPr/>
        </p:nvSpPr>
        <p:spPr>
          <a:xfrm>
            <a:off x="594360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C66A0431-0E3F-4032-AE20-3C5769ACE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510028"/>
            <a:ext cx="228600" cy="22860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5C988F8C-8692-4E33-865F-5BBFA6FE5D0A}"/>
              </a:ext>
            </a:extLst>
          </p:cNvPr>
          <p:cNvSpPr>
            <a:spLocks noGrp="1"/>
          </p:cNvSpPr>
          <p:nvPr/>
        </p:nvSpPr>
        <p:spPr>
          <a:xfrm>
            <a:off x="594360" y="2926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Leakage-safe numerical anchor</a:t>
            </a:r>
            <a:endParaRPr sz="12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4215888-8F8A-4103-B7F1-2C99EC2E1154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Logistic regression refit at each forecast date, using only data released by that date (FRED and Yahoo Finance).</a:t>
            </a:r>
            <a:endParaRPr sz="95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217DF4B-8DDA-4CC1-B694-A326626BC0E5}"/>
              </a:ext>
            </a:extLst>
          </p:cNvPr>
          <p:cNvSpPr>
            <a:spLocks noGrp="1"/>
          </p:cNvSpPr>
          <p:nvPr/>
        </p:nvSpPr>
        <p:spPr>
          <a:xfrm>
            <a:off x="3218688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00F81606-6431-4B70-B5CA-63E24C87A34F}"/>
              </a:ext>
            </a:extLst>
          </p:cNvPr>
          <p:cNvSpPr>
            <a:spLocks noGrp="1"/>
          </p:cNvSpPr>
          <p:nvPr/>
        </p:nvSpPr>
        <p:spPr>
          <a:xfrm>
            <a:off x="3218688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CE71B48-D7D8-4476-B10E-B409BDAAA329}"/>
              </a:ext>
            </a:extLst>
          </p:cNvPr>
          <p:cNvSpPr>
            <a:spLocks noGrp="1"/>
          </p:cNvSpPr>
          <p:nvPr/>
        </p:nvSpPr>
        <p:spPr>
          <a:xfrm>
            <a:off x="3401568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3">
            <a:extLst>
              <a:ext uri="{FF2B5EF4-FFF2-40B4-BE49-F238E27FC236}">
                <a16:creationId xmlns:a16="http://schemas.microsoft.com/office/drawing/2014/main" id="{B919015F-F146-434A-AC0D-55708F7008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868" y="2510028"/>
            <a:ext cx="228600" cy="22860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8B13C5B7-412F-40F8-AE7F-9B433CF770C5}"/>
              </a:ext>
            </a:extLst>
          </p:cNvPr>
          <p:cNvSpPr>
            <a:spLocks noGrp="1"/>
          </p:cNvSpPr>
          <p:nvPr/>
        </p:nvSpPr>
        <p:spPr>
          <a:xfrm>
            <a:off x="3401568" y="2926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Bounded LLM reasoning</a:t>
            </a:r>
            <a:endParaRPr sz="120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A4557F29-95A9-4E95-8075-FD58581F7D1C}"/>
              </a:ext>
            </a:extLst>
          </p:cNvPr>
          <p:cNvSpPr>
            <a:spLocks noGrp="1"/>
          </p:cNvSpPr>
          <p:nvPr/>
        </p:nvSpPr>
        <p:spPr>
          <a:xfrm>
            <a:off x="3401568" y="338328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agent returns a probability, rationale, supporting and opposing evidence, and a risk direction. Its change to the anchor is capped at ±0.03.</a:t>
            </a:r>
            <a:endParaRPr sz="95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886DBDBC-9C44-47E4-9274-5D2F1D8CB7EC}"/>
              </a:ext>
            </a:extLst>
          </p:cNvPr>
          <p:cNvSpPr>
            <a:spLocks noGrp="1"/>
          </p:cNvSpPr>
          <p:nvPr/>
        </p:nvSpPr>
        <p:spPr>
          <a:xfrm>
            <a:off x="6025896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E5F321D1-A4E6-490D-AD16-B852E6D76F6C}"/>
              </a:ext>
            </a:extLst>
          </p:cNvPr>
          <p:cNvSpPr>
            <a:spLocks noGrp="1"/>
          </p:cNvSpPr>
          <p:nvPr/>
        </p:nvSpPr>
        <p:spPr>
          <a:xfrm>
            <a:off x="6025896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57103676-A3DB-421C-A118-717057EA4FEE}"/>
              </a:ext>
            </a:extLst>
          </p:cNvPr>
          <p:cNvSpPr>
            <a:spLocks noGrp="1"/>
          </p:cNvSpPr>
          <p:nvPr/>
        </p:nvSpPr>
        <p:spPr>
          <a:xfrm>
            <a:off x="6208776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>
            <a:extLst>
              <a:ext uri="{FF2B5EF4-FFF2-40B4-BE49-F238E27FC236}">
                <a16:creationId xmlns:a16="http://schemas.microsoft.com/office/drawing/2014/main" id="{675F4CF0-BE82-4A87-BB06-0B85074C54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2510028"/>
            <a:ext cx="228600" cy="228600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1D92CBA2-9AFA-4F15-B1D9-CB4FA66A5AC3}"/>
              </a:ext>
            </a:extLst>
          </p:cNvPr>
          <p:cNvSpPr>
            <a:spLocks noGrp="1"/>
          </p:cNvSpPr>
          <p:nvPr/>
        </p:nvSpPr>
        <p:spPr>
          <a:xfrm>
            <a:off x="6208776" y="2926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Governed adaptive memory</a:t>
            </a:r>
            <a:endParaRPr sz="120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2EFB9FA3-E2F0-42E1-B0FD-6EF5AC4FA923}"/>
              </a:ext>
            </a:extLst>
          </p:cNvPr>
          <p:cNvSpPr>
            <a:spLocks noGrp="1"/>
          </p:cNvSpPr>
          <p:nvPr/>
        </p:nvSpPr>
        <p:spPr>
          <a:xfrm>
            <a:off x="6208776" y="338328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Typed tools record observations and hypotheses. A hypothesis needs 3 confirmations from distinct origins before it changes the strategy; every change is hash-linked.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37335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43AB94-7D6B-4FC8-B9D1-319607B3D3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0C3B3C-DD5E-4144-B428-D01F7FC80F46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ARCHITECTURE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A03092-B697-4043-A77B-6CF42A35FF93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How the Workbench Fits Together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F423D88-11E3-486D-BA7D-891FAB89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29E20549-CA5B-4784-BD2D-7D4577D7D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6A9318F-30EC-4E59-9E4A-176C833E3572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FB597B3-9AB2-4E90-BAAC-820AB78C7C75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4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CCE623C-2BBA-4AC6-BF6A-FC2D33AFA5D6}"/>
              </a:ext>
            </a:extLst>
          </p:cNvPr>
          <p:cNvSpPr>
            <a:spLocks noGrp="1"/>
          </p:cNvSpPr>
          <p:nvPr/>
        </p:nvSpPr>
        <p:spPr>
          <a:xfrm>
            <a:off x="411480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A7AAA5-B549-4617-8E32-C41214D5C33B}"/>
              </a:ext>
            </a:extLst>
          </p:cNvPr>
          <p:cNvSpPr>
            <a:spLocks noGrp="1"/>
          </p:cNvSpPr>
          <p:nvPr/>
        </p:nvSpPr>
        <p:spPr>
          <a:xfrm>
            <a:off x="484632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Leakage-safe data</a:t>
            </a:r>
            <a:endParaRPr sz="10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99562FC-D93E-472F-B3C3-A1A07F8B1C13}"/>
              </a:ext>
            </a:extLst>
          </p:cNvPr>
          <p:cNvSpPr>
            <a:spLocks noGrp="1"/>
          </p:cNvSpPr>
          <p:nvPr/>
        </p:nvSpPr>
        <p:spPr>
          <a:xfrm>
            <a:off x="484632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IPMAN, macro and market series, filtered by release date</a:t>
            </a:r>
            <a:endParaRPr sz="85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6512F16-37E3-4466-8316-B069F15B7941}"/>
              </a:ext>
            </a:extLst>
          </p:cNvPr>
          <p:cNvSpPr>
            <a:spLocks noGrp="1"/>
          </p:cNvSpPr>
          <p:nvPr/>
        </p:nvSpPr>
        <p:spPr>
          <a:xfrm>
            <a:off x="1956816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2DF27E1-1B48-450F-8625-9377601ED6D9}"/>
              </a:ext>
            </a:extLst>
          </p:cNvPr>
          <p:cNvSpPr>
            <a:spLocks noGrp="1"/>
          </p:cNvSpPr>
          <p:nvPr/>
        </p:nvSpPr>
        <p:spPr>
          <a:xfrm>
            <a:off x="2112264" y="1234440"/>
            <a:ext cx="1517904" cy="1097280"/>
          </a:xfrm>
          <a:prstGeom prst="rect">
            <a:avLst/>
          </a:prstGeom>
          <a:solidFill>
            <a:srgbClr val="E6F2FA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5D1413D-9265-4616-A98B-3A32F0A61DFD}"/>
              </a:ext>
            </a:extLst>
          </p:cNvPr>
          <p:cNvSpPr>
            <a:spLocks noGrp="1"/>
          </p:cNvSpPr>
          <p:nvPr/>
        </p:nvSpPr>
        <p:spPr>
          <a:xfrm>
            <a:off x="2185416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Logistic anchor</a:t>
            </a:r>
            <a:endParaRPr sz="10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1F51FF5-A0F5-407C-8630-16CC49AFC4FE}"/>
              </a:ext>
            </a:extLst>
          </p:cNvPr>
          <p:cNvSpPr>
            <a:spLocks noGrp="1"/>
          </p:cNvSpPr>
          <p:nvPr/>
        </p:nvSpPr>
        <p:spPr>
          <a:xfrm>
            <a:off x="2185416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Statistical probability (C = 0.001)</a:t>
            </a:r>
            <a:endParaRPr sz="85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7C75299-F4A1-4779-AB03-060064003279}"/>
              </a:ext>
            </a:extLst>
          </p:cNvPr>
          <p:cNvSpPr>
            <a:spLocks noGrp="1"/>
          </p:cNvSpPr>
          <p:nvPr/>
        </p:nvSpPr>
        <p:spPr>
          <a:xfrm>
            <a:off x="3657600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B03F81A-8FE5-4789-BE73-364374E6F302}"/>
              </a:ext>
            </a:extLst>
          </p:cNvPr>
          <p:cNvSpPr>
            <a:spLocks noGrp="1"/>
          </p:cNvSpPr>
          <p:nvPr/>
        </p:nvSpPr>
        <p:spPr>
          <a:xfrm>
            <a:off x="3813048" y="1234440"/>
            <a:ext cx="1517904" cy="1097280"/>
          </a:xfrm>
          <a:prstGeom prst="rect">
            <a:avLst/>
          </a:prstGeom>
          <a:solidFill>
            <a:srgbClr val="FFF4DC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B958CF1-8BE6-4FE8-950D-7C5D3F475EF5}"/>
              </a:ext>
            </a:extLst>
          </p:cNvPr>
          <p:cNvSpPr>
            <a:spLocks noGrp="1"/>
          </p:cNvSpPr>
          <p:nvPr/>
        </p:nvSpPr>
        <p:spPr>
          <a:xfrm>
            <a:off x="3886200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agent</a:t>
            </a:r>
            <a:endParaRPr sz="105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7E3A67F-C8AD-4890-873E-47952E62CF96}"/>
              </a:ext>
            </a:extLst>
          </p:cNvPr>
          <p:cNvSpPr>
            <a:spLocks noGrp="1"/>
          </p:cNvSpPr>
          <p:nvPr/>
        </p:nvSpPr>
        <p:spPr>
          <a:xfrm>
            <a:off x="3886200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Reviews evidence and proposes a probability with rationale</a:t>
            </a:r>
            <a:endParaRPr sz="85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7CA707D-B49E-484D-BD66-7F860ECA0290}"/>
              </a:ext>
            </a:extLst>
          </p:cNvPr>
          <p:cNvSpPr>
            <a:spLocks noGrp="1"/>
          </p:cNvSpPr>
          <p:nvPr/>
        </p:nvSpPr>
        <p:spPr>
          <a:xfrm>
            <a:off x="5358384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AC90F36-F83C-4263-85B5-9FE68C4A2EAF}"/>
              </a:ext>
            </a:extLst>
          </p:cNvPr>
          <p:cNvSpPr>
            <a:spLocks noGrp="1"/>
          </p:cNvSpPr>
          <p:nvPr/>
        </p:nvSpPr>
        <p:spPr>
          <a:xfrm>
            <a:off x="5513832" y="1234440"/>
            <a:ext cx="1517904" cy="1097280"/>
          </a:xfrm>
          <a:prstGeom prst="rect">
            <a:avLst/>
          </a:prstGeom>
          <a:solidFill>
            <a:srgbClr val="E8F3EE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91FB5E0-721F-48D4-8E94-58A161509569}"/>
              </a:ext>
            </a:extLst>
          </p:cNvPr>
          <p:cNvSpPr>
            <a:spLocks noGrp="1"/>
          </p:cNvSpPr>
          <p:nvPr/>
        </p:nvSpPr>
        <p:spPr>
          <a:xfrm>
            <a:off x="5586984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±0.03 guardrail</a:t>
            </a:r>
            <a:endParaRPr sz="105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09FEB37-70ED-4891-A66A-5B367224CB3A}"/>
              </a:ext>
            </a:extLst>
          </p:cNvPr>
          <p:cNvSpPr>
            <a:spLocks noGrp="1"/>
          </p:cNvSpPr>
          <p:nvPr/>
        </p:nvSpPr>
        <p:spPr>
          <a:xfrm>
            <a:off x="5586984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= anchor + bounded adjustment</a:t>
            </a:r>
            <a:endParaRPr sz="85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419083E3-62A9-4CC8-8BD4-CA7F87CA5E01}"/>
              </a:ext>
            </a:extLst>
          </p:cNvPr>
          <p:cNvSpPr>
            <a:spLocks noGrp="1"/>
          </p:cNvSpPr>
          <p:nvPr/>
        </p:nvSpPr>
        <p:spPr>
          <a:xfrm>
            <a:off x="7059168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70E841CF-82F7-4A65-AD44-3621F56F0CE7}"/>
              </a:ext>
            </a:extLst>
          </p:cNvPr>
          <p:cNvSpPr>
            <a:spLocks noGrp="1"/>
          </p:cNvSpPr>
          <p:nvPr/>
        </p:nvSpPr>
        <p:spPr>
          <a:xfrm>
            <a:off x="7214616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3F2D721-9190-40EF-A5A4-24D629D3C9DC}"/>
              </a:ext>
            </a:extLst>
          </p:cNvPr>
          <p:cNvSpPr>
            <a:spLocks noGrp="1"/>
          </p:cNvSpPr>
          <p:nvPr/>
        </p:nvSpPr>
        <p:spPr>
          <a:xfrm>
            <a:off x="7287768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Forecast record</a:t>
            </a:r>
            <a:endParaRPr sz="10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A252DD8-72FA-426B-B2B9-963524326CC5}"/>
              </a:ext>
            </a:extLst>
          </p:cNvPr>
          <p:cNvSpPr>
            <a:spLocks noGrp="1"/>
          </p:cNvSpPr>
          <p:nvPr/>
        </p:nvSpPr>
        <p:spPr>
          <a:xfrm>
            <a:off x="7287768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Scored in backtest with Brier score</a:t>
            </a:r>
            <a:endParaRPr sz="85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5E0FD72E-77B4-4B8A-87C8-14BBB158E45E}"/>
              </a:ext>
            </a:extLst>
          </p:cNvPr>
          <p:cNvSpPr>
            <a:spLocks noGrp="1"/>
          </p:cNvSpPr>
          <p:nvPr/>
        </p:nvSpPr>
        <p:spPr>
          <a:xfrm>
            <a:off x="4572000" y="2331720"/>
            <a:ext cx="0" cy="457200"/>
          </a:xfrm>
          <a:prstGeom prst="line">
            <a:avLst/>
          </a:prstGeom>
          <a:noFill/>
          <a:ln w="19050">
            <a:solidFill>
              <a:srgbClr val="2E7D5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8B8EB221-CBC3-49C2-B528-D69752843D0C}"/>
              </a:ext>
            </a:extLst>
          </p:cNvPr>
          <p:cNvSpPr>
            <a:spLocks noGrp="1"/>
          </p:cNvSpPr>
          <p:nvPr/>
        </p:nvSpPr>
        <p:spPr>
          <a:xfrm>
            <a:off x="2898648" y="2788920"/>
            <a:ext cx="3346704" cy="868680"/>
          </a:xfrm>
          <a:prstGeom prst="rect">
            <a:avLst/>
          </a:prstGeom>
          <a:solidFill>
            <a:srgbClr val="E8F3EE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ACB144F-F994-4558-8C02-11ED26C9E7F9}"/>
              </a:ext>
            </a:extLst>
          </p:cNvPr>
          <p:cNvSpPr>
            <a:spLocks noGrp="1"/>
          </p:cNvSpPr>
          <p:nvPr/>
        </p:nvSpPr>
        <p:spPr>
          <a:xfrm>
            <a:off x="2990088" y="2834640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Strategy memory (enabled for the adaptive agent)</a:t>
            </a:r>
            <a:endParaRPr sz="1050"/>
          </a:p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Typed tools save observations and hypotheses to a versioned state that later prompts read. Every change writes a redacted audit event with before/after hashes.</a:t>
            </a:r>
            <a:endParaRPr sz="105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DCC6C130-D50D-4FD9-88E0-A795F27C32C2}"/>
              </a:ext>
            </a:extLst>
          </p:cNvPr>
          <p:cNvSpPr>
            <a:spLocks noGrp="1"/>
          </p:cNvSpPr>
          <p:nvPr/>
        </p:nvSpPr>
        <p:spPr>
          <a:xfrm>
            <a:off x="411480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A45F5CA0-21EA-4CE4-923B-6BD0598D2511}"/>
              </a:ext>
            </a:extLst>
          </p:cNvPr>
          <p:cNvSpPr>
            <a:spLocks noGrp="1"/>
          </p:cNvSpPr>
          <p:nvPr/>
        </p:nvSpPr>
        <p:spPr>
          <a:xfrm>
            <a:off x="411480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22C71DB2-4753-4E67-8EBC-019D09A44FE3}"/>
              </a:ext>
            </a:extLst>
          </p:cNvPr>
          <p:cNvSpPr>
            <a:spLocks noGrp="1"/>
          </p:cNvSpPr>
          <p:nvPr/>
        </p:nvSpPr>
        <p:spPr>
          <a:xfrm>
            <a:off x="576072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the agent CAN change</a:t>
            </a:r>
            <a:endParaRPr sz="105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5A372FB5-56C3-4282-B3B1-252D98B6F00C}"/>
              </a:ext>
            </a:extLst>
          </p:cNvPr>
          <p:cNvSpPr>
            <a:spLocks noGrp="1"/>
          </p:cNvSpPr>
          <p:nvPr/>
        </p:nvSpPr>
        <p:spPr>
          <a:xfrm>
            <a:off x="576072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Its proposed probability (within ±0.03) and the prompt-level strategy it reads next time.</a:t>
            </a:r>
            <a:endParaRPr sz="90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730831D3-DAF9-4499-8243-55652ADE8409}"/>
              </a:ext>
            </a:extLst>
          </p:cNvPr>
          <p:cNvSpPr>
            <a:spLocks noGrp="1"/>
          </p:cNvSpPr>
          <p:nvPr/>
        </p:nvSpPr>
        <p:spPr>
          <a:xfrm>
            <a:off x="3218688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7B9A7A44-1CDD-437D-A22B-0D0DBC2A0421}"/>
              </a:ext>
            </a:extLst>
          </p:cNvPr>
          <p:cNvSpPr>
            <a:spLocks noGrp="1"/>
          </p:cNvSpPr>
          <p:nvPr/>
        </p:nvSpPr>
        <p:spPr>
          <a:xfrm>
            <a:off x="3218688" y="3794760"/>
            <a:ext cx="54864" cy="91440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8433C26-B344-410C-AD1D-68CBAD7F19A6}"/>
              </a:ext>
            </a:extLst>
          </p:cNvPr>
          <p:cNvSpPr>
            <a:spLocks noGrp="1"/>
          </p:cNvSpPr>
          <p:nvPr/>
        </p:nvSpPr>
        <p:spPr>
          <a:xfrm>
            <a:off x="3383280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it CANNOT change</a:t>
            </a:r>
            <a:endParaRPr sz="105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3AD61630-2815-41FD-A5FE-018F72A1B18C}"/>
              </a:ext>
            </a:extLst>
          </p:cNvPr>
          <p:cNvSpPr>
            <a:spLocks noGrp="1"/>
          </p:cNvSpPr>
          <p:nvPr/>
        </p:nvSpPr>
        <p:spPr>
          <a:xfrm>
            <a:off x="3383280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Data, features, target, model parameters or the anchor code. No retraining happens through the agent.</a:t>
            </a:r>
            <a:endParaRPr sz="90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6DD3AA85-2DE6-4E8D-A57B-99279BF8B765}"/>
              </a:ext>
            </a:extLst>
          </p:cNvPr>
          <p:cNvSpPr>
            <a:spLocks noGrp="1"/>
          </p:cNvSpPr>
          <p:nvPr/>
        </p:nvSpPr>
        <p:spPr>
          <a:xfrm>
            <a:off x="6025896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18FC8241-50CE-45A3-B5D2-857C9CA7E2F7}"/>
              </a:ext>
            </a:extLst>
          </p:cNvPr>
          <p:cNvSpPr>
            <a:spLocks noGrp="1"/>
          </p:cNvSpPr>
          <p:nvPr/>
        </p:nvSpPr>
        <p:spPr>
          <a:xfrm>
            <a:off x="6025896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D7261A7E-68BE-4A15-9E82-037A2B2B9051}"/>
              </a:ext>
            </a:extLst>
          </p:cNvPr>
          <p:cNvSpPr>
            <a:spLocks noGrp="1"/>
          </p:cNvSpPr>
          <p:nvPr/>
        </p:nvSpPr>
        <p:spPr>
          <a:xfrm>
            <a:off x="6190488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Observability</a:t>
            </a:r>
            <a:endParaRPr sz="105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68BE97C5-EBAC-4A35-974A-B363BA7B67EA}"/>
              </a:ext>
            </a:extLst>
          </p:cNvPr>
          <p:cNvSpPr>
            <a:spLocks noGrp="1"/>
          </p:cNvSpPr>
          <p:nvPr/>
        </p:nvSpPr>
        <p:spPr>
          <a:xfrm>
            <a:off x="6190488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Optional Langfuse traces for each call, plus a local redacted audit log of strategy changes.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712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4D478B-D3A2-488B-9C13-11B434C608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16737F-969C-4A23-A083-9C3276297F42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DATA, MODELS AND EVALUATION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9FA33F-0FE1-4CA9-8B15-57103FC32DF7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Technical Approach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EFEE3015-751D-4D63-9F22-A42996571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2B04C452-024F-4A85-BCAD-8A18FD4EB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40F192F-B168-4404-BD01-46EC32993C9C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E71433F-8C0F-46D6-A605-E7BFAD1D062F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5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4380B9E-52AF-4253-80ED-C5807AD3A89E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 &amp; Models</a:t>
            </a:r>
            <a:endParaRPr sz="13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62F5A64-9075-4C01-8DF3-AB7F6116E818}"/>
              </a:ext>
            </a:extLst>
          </p:cNvPr>
          <p:cNvSpPr>
            <a:spLocks noGrp="1"/>
          </p:cNvSpPr>
          <p:nvPr/>
        </p:nvSpPr>
        <p:spPr>
          <a:xfrm>
            <a:off x="411480" y="1325880"/>
            <a:ext cx="4023360" cy="3383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Dataset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monthly inputs from public sources: IPMAN 1/3/6-month changes; Fed funds, 10y-2y spread, CPI, unemployment, jobless claims, VIX, Baa credit spread (FRED); SPY and XLI 3/12-month returns (Yahoo Finance).</a:t>
            </a:r>
            <a:endParaRPr sz="950"/>
          </a:p>
          <a:p>
            <a:pPr marL="0" indent="0">
              <a:buNone/>
            </a:pPr>
            <a:r>
              <a:rPr sz="400">
                <a:solidFill>
                  <a:srgbClr val="1F2937"/>
                </a:solidFill>
                <a:latin typeface="Arial"/>
                <a:ea typeface="Arial"/>
                <a:cs typeface="Arial"/>
              </a:rPr>
              <a:t> </a:t>
            </a:r>
            <a:endParaRPr sz="950"/>
          </a:p>
          <a:p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 control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forecast only sees data released by its date. IPMAN uses a conservative 1-month release lag.</a:t>
            </a:r>
            <a:endParaRPr sz="950"/>
          </a:p>
          <a:p>
            <a:pPr marL="0" indent="0">
              <a:buNone/>
            </a:pPr>
            <a:r>
              <a:rPr sz="400">
                <a:solidFill>
                  <a:srgbClr val="1F2937"/>
                </a:solidFill>
                <a:latin typeface="Arial"/>
                <a:ea typeface="Arial"/>
                <a:cs typeface="Arial"/>
              </a:rPr>
              <a:t> </a:t>
            </a:r>
            <a:endParaRPr sz="950"/>
          </a:p>
          <a:p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Models compared (7)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Historical frequency (baseline), logistic regression, XGBoost, hybrid anchor, LLM analyst agent, hybrid agent and adaptive agent.</a:t>
            </a:r>
            <a:endParaRPr sz="9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D68BB4B-7F0A-4A46-8D9C-49C98D728EA8}"/>
              </a:ext>
            </a:extLst>
          </p:cNvPr>
          <p:cNvSpPr>
            <a:spLocks noGrp="1"/>
          </p:cNvSpPr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Experiments &amp; Evaluation</a:t>
            </a:r>
            <a:endParaRPr sz="13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642D76D-8B35-4496-BD7B-0A3DABDBCEF0}"/>
              </a:ext>
            </a:extLst>
          </p:cNvPr>
          <p:cNvSpPr>
            <a:spLocks noGrp="1"/>
          </p:cNvSpPr>
          <p:nvPr/>
        </p:nvSpPr>
        <p:spPr>
          <a:xfrm>
            <a:off x="4663440" y="14081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E45218F-0CAC-451C-823B-860B0D847B05}"/>
              </a:ext>
            </a:extLst>
          </p:cNvPr>
          <p:cNvSpPr>
            <a:spLocks noGrp="1"/>
          </p:cNvSpPr>
          <p:nvPr/>
        </p:nvSpPr>
        <p:spPr>
          <a:xfrm>
            <a:off x="4663440" y="14081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BC2D61B-33DF-463A-918D-1039A031E347}"/>
              </a:ext>
            </a:extLst>
          </p:cNvPr>
          <p:cNvSpPr>
            <a:spLocks noGrp="1"/>
          </p:cNvSpPr>
          <p:nvPr/>
        </p:nvSpPr>
        <p:spPr>
          <a:xfrm>
            <a:off x="5074920" y="13716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Parameter sweep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15 candidates, 3 chronological folds (2000-2017)</a:t>
            </a:r>
            <a:endParaRPr sz="9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ED15E04-34AE-4BD4-941A-71CA00C4B4E7}"/>
              </a:ext>
            </a:extLst>
          </p:cNvPr>
          <p:cNvSpPr>
            <a:spLocks noGrp="1"/>
          </p:cNvSpPr>
          <p:nvPr/>
        </p:nvSpPr>
        <p:spPr>
          <a:xfrm>
            <a:off x="4663440" y="18653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D65C5C1-9B4F-4FBA-9D8E-0721321E4CA8}"/>
              </a:ext>
            </a:extLst>
          </p:cNvPr>
          <p:cNvSpPr>
            <a:spLocks noGrp="1"/>
          </p:cNvSpPr>
          <p:nvPr/>
        </p:nvSpPr>
        <p:spPr>
          <a:xfrm>
            <a:off x="4663440" y="18653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BC1E2C4-4134-4C21-90B9-23076C9EC44C}"/>
              </a:ext>
            </a:extLst>
          </p:cNvPr>
          <p:cNvSpPr>
            <a:spLocks noGrp="1"/>
          </p:cNvSpPr>
          <p:nvPr/>
        </p:nvSpPr>
        <p:spPr>
          <a:xfrm>
            <a:off x="5074920" y="18288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2018-2024 diagnostic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Sweep candidates re-scored on an already-inspected window</a:t>
            </a:r>
            <a:endParaRPr sz="9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7609D78-D062-4121-A018-0F3E08E0E68D}"/>
              </a:ext>
            </a:extLst>
          </p:cNvPr>
          <p:cNvSpPr>
            <a:spLocks noGrp="1"/>
          </p:cNvSpPr>
          <p:nvPr/>
        </p:nvSpPr>
        <p:spPr>
          <a:xfrm>
            <a:off x="4663440" y="23225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4D4E032-575A-442D-A5E5-9DCA4D1D3A25}"/>
              </a:ext>
            </a:extLst>
          </p:cNvPr>
          <p:cNvSpPr>
            <a:spLocks noGrp="1"/>
          </p:cNvSpPr>
          <p:nvPr/>
        </p:nvSpPr>
        <p:spPr>
          <a:xfrm>
            <a:off x="4663440" y="23225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9A0CF46-6E69-4EAB-A09E-70E43FACA5C1}"/>
              </a:ext>
            </a:extLst>
          </p:cNvPr>
          <p:cNvSpPr>
            <a:spLocks noGrp="1"/>
          </p:cNvSpPr>
          <p:nvPr/>
        </p:nvSpPr>
        <p:spPr>
          <a:xfrm>
            <a:off x="5074920" y="22860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All-model comparison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7 models, 84 monthly origins (2018-2024), 6 stress events</a:t>
            </a:r>
            <a:endParaRPr sz="9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6A4BCB73-0FD7-459A-B39E-AA2D508C9B94}"/>
              </a:ext>
            </a:extLst>
          </p:cNvPr>
          <p:cNvSpPr>
            <a:spLocks noGrp="1"/>
          </p:cNvSpPr>
          <p:nvPr/>
        </p:nvSpPr>
        <p:spPr>
          <a:xfrm>
            <a:off x="4663440" y="27797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8BFB9FC-CFA9-4210-B78D-2C6C76FD964B}"/>
              </a:ext>
            </a:extLst>
          </p:cNvPr>
          <p:cNvSpPr>
            <a:spLocks noGrp="1"/>
          </p:cNvSpPr>
          <p:nvPr/>
        </p:nvSpPr>
        <p:spPr>
          <a:xfrm>
            <a:off x="4663440" y="27797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D97E3B9-74A6-4DC0-8D1C-F05912465169}"/>
              </a:ext>
            </a:extLst>
          </p:cNvPr>
          <p:cNvSpPr>
            <a:spLocks noGrp="1"/>
          </p:cNvSpPr>
          <p:nvPr/>
        </p:nvSpPr>
        <p:spPr>
          <a:xfrm>
            <a:off x="5074920" y="27432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model choice comparison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Gemini Lite vs Gemini Advanced, read-only, same 84 origins</a:t>
            </a:r>
            <a:endParaRPr sz="9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D898936E-ED18-400A-8FCA-2000B61434F0}"/>
              </a:ext>
            </a:extLst>
          </p:cNvPr>
          <p:cNvSpPr>
            <a:spLocks noGrp="1"/>
          </p:cNvSpPr>
          <p:nvPr/>
        </p:nvSpPr>
        <p:spPr>
          <a:xfrm>
            <a:off x="4663440" y="32369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9924890E-209F-4F0C-9E99-2E6CB4CE8CEF}"/>
              </a:ext>
            </a:extLst>
          </p:cNvPr>
          <p:cNvSpPr>
            <a:spLocks noGrp="1"/>
          </p:cNvSpPr>
          <p:nvPr/>
        </p:nvSpPr>
        <p:spPr>
          <a:xfrm>
            <a:off x="4663440" y="32369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FA62B2F-3701-480C-AFEC-81D48160F47C}"/>
              </a:ext>
            </a:extLst>
          </p:cNvPr>
          <p:cNvSpPr>
            <a:spLocks noGrp="1"/>
          </p:cNvSpPr>
          <p:nvPr/>
        </p:nvSpPr>
        <p:spPr>
          <a:xfrm>
            <a:off x="5074920" y="320040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Governance demo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One full hypothesis lifecycle with audited memory changes</a:t>
            </a:r>
            <a:endParaRPr sz="9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CF193712-E5A4-47DF-9E0A-FDA3E4367526}"/>
              </a:ext>
            </a:extLst>
          </p:cNvPr>
          <p:cNvSpPr>
            <a:spLocks noGrp="1"/>
          </p:cNvSpPr>
          <p:nvPr/>
        </p:nvSpPr>
        <p:spPr>
          <a:xfrm>
            <a:off x="4663440" y="3749040"/>
            <a:ext cx="4114800" cy="960120"/>
          </a:xfrm>
          <a:prstGeom prst="rect">
            <a:avLst/>
          </a:prstGeom>
          <a:solidFill>
            <a:srgbClr val="E6F2FA"/>
          </a:solidFill>
          <a:ln w="12700">
            <a:solidFill>
              <a:srgbClr val="E6F2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1E88831B-43DE-4863-BB97-DBDAB1067E33}"/>
              </a:ext>
            </a:extLst>
          </p:cNvPr>
          <p:cNvSpPr>
            <a:spLocks noGrp="1"/>
          </p:cNvSpPr>
          <p:nvPr/>
        </p:nvSpPr>
        <p:spPr>
          <a:xfrm>
            <a:off x="4773168" y="3776472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Evaluation metrics</a:t>
            </a:r>
            <a:endParaRPr sz="1050"/>
          </a:p>
          <a:p>
            <a:pPr marL="0" indent="0">
              <a:buNone/>
            </a:pP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Brier score = mean of (forecast probability - actual 0/1)². Lower is better. Brier skill = 1 - model score / baseline score; positive means better than the historical base rate. Plus calibration and regime slices.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59971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FULL-HISTORY EVALUATION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Base Rate Still Leads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269AB107-6F70-4182-9C8E-F7BAD08E3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82F35C37-521C-4E65-9488-53E94CF24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6</a:t>
            </a:r>
            <a:endParaRPr sz="7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noGrp="1"/>
          </p:cNvSpPr>
          <p:nvPr/>
        </p:nvSpPr>
        <p:spPr>
          <a:xfrm>
            <a:off x="411480" y="4343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264 monthly origins, 2003-2024; 20 stress outcomes.</a:t>
            </a:r>
            <a:endParaRPr sz="85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noGrp="1"/>
          </p:cNvSpPr>
          <p:nvPr/>
        </p:nvSpPr>
        <p:spPr>
          <a:xfrm>
            <a:off x="57150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-2.6%</a:t>
            </a:r>
            <a:endParaRPr sz="28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noGrp="1"/>
          </p:cNvSpPr>
          <p:nvPr/>
        </p:nvSpPr>
        <p:spPr>
          <a:xfrm>
            <a:off x="57150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Logistic skill vs historical frequency</a:t>
            </a:r>
            <a:endParaRPr sz="9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noGrp="1"/>
          </p:cNvSpPr>
          <p:nvPr/>
        </p:nvSpPr>
        <p:spPr>
          <a:xfrm>
            <a:off x="73152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-9.6%</a:t>
            </a:r>
            <a:endParaRPr sz="28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noGrp="1"/>
          </p:cNvSpPr>
          <p:nvPr/>
        </p:nvSpPr>
        <p:spPr>
          <a:xfrm>
            <a:off x="73152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XGBoost skill vs historical frequency</a:t>
            </a:r>
            <a:endParaRPr sz="90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noGrp="1"/>
          </p:cNvSpPr>
          <p:nvPr/>
        </p:nvSpPr>
        <p:spPr>
          <a:xfrm>
            <a:off x="5715000" y="2194560"/>
            <a:ext cx="310896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Historical frequency scored 0.0710.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Logistic scored 0.0728; its +0.0018 gap had a 90% interval of -0.0008 to +0.0043 (p = 0.207).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XGBoost scored 0.0778; its +0.0068 gap was reliably worse (p = 0.0006).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longer history strengthens the conclusion that these inputs add little forward-looking separation.</a:t>
            </a:r>
            <a:endParaRPr sz="9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D1DDCB-538B-4AE8-9BB8-D5D5BF0BA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0040" y="1006010"/>
            <a:ext cx="5120640" cy="32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43AB94-7D6B-4FC8-B9D1-319607B3D3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0C3B3C-DD5E-4144-B428-D01F7FC80F46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ADAPTIVE LEARNING CONTROL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A03092-B697-4043-A77B-6CF42A35FF93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Outcome-grounded Adaptive Learning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61859E1-FE2C-41DB-9E3F-686D27766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E02F3082-EB24-4FA9-870F-E93304963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6A9318F-30EC-4E59-9E4A-176C833E3572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FB597B3-9AB2-4E90-BAAC-820AB78C7C75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7</a:t>
            </a:r>
            <a:endParaRPr sz="75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CCE623C-2BBA-4AC6-BF6A-FC2D33AFA5D6}"/>
              </a:ext>
            </a:extLst>
          </p:cNvPr>
          <p:cNvSpPr>
            <a:spLocks noGrp="1"/>
          </p:cNvSpPr>
          <p:nvPr/>
        </p:nvSpPr>
        <p:spPr>
          <a:xfrm>
            <a:off x="411480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A7AAA5-B549-4617-8E32-C41214D5C33B}"/>
              </a:ext>
            </a:extLst>
          </p:cNvPr>
          <p:cNvSpPr>
            <a:spLocks noGrp="1"/>
          </p:cNvSpPr>
          <p:nvPr/>
        </p:nvSpPr>
        <p:spPr>
          <a:xfrm>
            <a:off x="484632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Saved forecast</a:t>
            </a:r>
            <a:endParaRPr sz="10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99562FC-D93E-472F-B3C3-A1A07F8B1C13}"/>
              </a:ext>
            </a:extLst>
          </p:cNvPr>
          <p:cNvSpPr>
            <a:spLocks noGrp="1"/>
          </p:cNvSpPr>
          <p:nvPr/>
        </p:nvSpPr>
        <p:spPr>
          <a:xfrm>
            <a:off x="484632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Immutable probability, anchor and stable origin ID</a:t>
            </a:r>
            <a:endParaRPr sz="85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6512F16-37E3-4466-8316-B069F15B7941}"/>
              </a:ext>
            </a:extLst>
          </p:cNvPr>
          <p:cNvSpPr>
            <a:spLocks noGrp="1"/>
          </p:cNvSpPr>
          <p:nvPr/>
        </p:nvSpPr>
        <p:spPr>
          <a:xfrm>
            <a:off x="1956816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2DF27E1-1B48-450F-8625-9377601ED6D9}"/>
              </a:ext>
            </a:extLst>
          </p:cNvPr>
          <p:cNvSpPr>
            <a:spLocks noGrp="1"/>
          </p:cNvSpPr>
          <p:nvPr/>
        </p:nvSpPr>
        <p:spPr>
          <a:xfrm>
            <a:off x="2112264" y="1234440"/>
            <a:ext cx="1517904" cy="1097280"/>
          </a:xfrm>
          <a:prstGeom prst="rect">
            <a:avLst/>
          </a:prstGeom>
          <a:solidFill>
            <a:srgbClr val="E6F2FA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5D1413D-9265-4616-A98B-3A32F0A61DFD}"/>
              </a:ext>
            </a:extLst>
          </p:cNvPr>
          <p:cNvSpPr>
            <a:spLocks noGrp="1"/>
          </p:cNvSpPr>
          <p:nvPr/>
        </p:nvSpPr>
        <p:spPr>
          <a:xfrm>
            <a:off x="2185416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 pending</a:t>
            </a:r>
            <a:endParaRPr sz="10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1F51FF5-A0F5-407C-8630-16CC49AFC4FE}"/>
              </a:ext>
            </a:extLst>
          </p:cNvPr>
          <p:cNvSpPr>
            <a:spLocks noGrp="1"/>
          </p:cNvSpPr>
          <p:nvPr/>
        </p:nvSpPr>
        <p:spPr>
          <a:xfrm>
            <a:off x="2185416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Target remains hidden until its release date</a:t>
            </a:r>
            <a:endParaRPr sz="85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7C75299-F4A1-4779-AB03-060064003279}"/>
              </a:ext>
            </a:extLst>
          </p:cNvPr>
          <p:cNvSpPr>
            <a:spLocks noGrp="1"/>
          </p:cNvSpPr>
          <p:nvPr/>
        </p:nvSpPr>
        <p:spPr>
          <a:xfrm>
            <a:off x="3657600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B03F81A-8FE5-4789-BE73-364374E6F302}"/>
              </a:ext>
            </a:extLst>
          </p:cNvPr>
          <p:cNvSpPr>
            <a:spLocks noGrp="1"/>
          </p:cNvSpPr>
          <p:nvPr/>
        </p:nvSpPr>
        <p:spPr>
          <a:xfrm>
            <a:off x="3813048" y="1234440"/>
            <a:ext cx="1517904" cy="1097280"/>
          </a:xfrm>
          <a:prstGeom prst="rect">
            <a:avLst/>
          </a:prstGeom>
          <a:solidFill>
            <a:srgbClr val="FFF4DC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B958CF1-8BE6-4FE8-950D-7C5D3F475EF5}"/>
              </a:ext>
            </a:extLst>
          </p:cNvPr>
          <p:cNvSpPr>
            <a:spLocks noGrp="1"/>
          </p:cNvSpPr>
          <p:nvPr/>
        </p:nvSpPr>
        <p:spPr>
          <a:xfrm>
            <a:off x="3886200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Resolution ledger</a:t>
            </a:r>
            <a:endParaRPr sz="105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7E3A67F-C8AD-4890-873E-47952E62CF96}"/>
              </a:ext>
            </a:extLst>
          </p:cNvPr>
          <p:cNvSpPr>
            <a:spLocks noGrp="1"/>
          </p:cNvSpPr>
          <p:nvPr/>
        </p:nvSpPr>
        <p:spPr>
          <a:xfrm>
            <a:off x="3886200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Only published outcomes become review evidence</a:t>
            </a:r>
            <a:endParaRPr sz="85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7CA707D-B49E-484D-BD66-7F860ECA0290}"/>
              </a:ext>
            </a:extLst>
          </p:cNvPr>
          <p:cNvSpPr>
            <a:spLocks noGrp="1"/>
          </p:cNvSpPr>
          <p:nvPr/>
        </p:nvSpPr>
        <p:spPr>
          <a:xfrm>
            <a:off x="5358384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AC90F36-F83C-4263-85B5-9FE68C4A2EAF}"/>
              </a:ext>
            </a:extLst>
          </p:cNvPr>
          <p:cNvSpPr>
            <a:spLocks noGrp="1"/>
          </p:cNvSpPr>
          <p:nvPr/>
        </p:nvSpPr>
        <p:spPr>
          <a:xfrm>
            <a:off x="5513832" y="1234440"/>
            <a:ext cx="1517904" cy="1097280"/>
          </a:xfrm>
          <a:prstGeom prst="rect">
            <a:avLst/>
          </a:prstGeom>
          <a:solidFill>
            <a:srgbClr val="E8F3EE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91FB5E0-721F-48D4-8E94-58A161509569}"/>
              </a:ext>
            </a:extLst>
          </p:cNvPr>
          <p:cNvSpPr>
            <a:spLocks noGrp="1"/>
          </p:cNvSpPr>
          <p:nvPr/>
        </p:nvSpPr>
        <p:spPr>
          <a:xfrm>
            <a:off x="5586984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Strategy review</a:t>
            </a:r>
            <a:endParaRPr sz="105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09FEB37-70ED-4891-A66A-5B367224CB3A}"/>
              </a:ext>
            </a:extLst>
          </p:cNvPr>
          <p:cNvSpPr>
            <a:spLocks noGrp="1"/>
          </p:cNvSpPr>
          <p:nvPr/>
        </p:nvSpPr>
        <p:spPr>
          <a:xfrm>
            <a:off x="5586984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A dedicated reviewer evaluates newly resolved origins</a:t>
            </a:r>
            <a:endParaRPr sz="85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419083E3-62A9-4CC8-8BD4-CA7F87CA5E01}"/>
              </a:ext>
            </a:extLst>
          </p:cNvPr>
          <p:cNvSpPr>
            <a:spLocks noGrp="1"/>
          </p:cNvSpPr>
          <p:nvPr/>
        </p:nvSpPr>
        <p:spPr>
          <a:xfrm>
            <a:off x="7059168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70E841CF-82F7-4A65-AD44-3621F56F0CE7}"/>
              </a:ext>
            </a:extLst>
          </p:cNvPr>
          <p:cNvSpPr>
            <a:spLocks noGrp="1"/>
          </p:cNvSpPr>
          <p:nvPr/>
        </p:nvSpPr>
        <p:spPr>
          <a:xfrm>
            <a:off x="7214616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3F2D721-9190-40EF-A5A4-24D629D3C9DC}"/>
              </a:ext>
            </a:extLst>
          </p:cNvPr>
          <p:cNvSpPr>
            <a:spLocks noGrp="1"/>
          </p:cNvSpPr>
          <p:nvPr/>
        </p:nvSpPr>
        <p:spPr>
          <a:xfrm>
            <a:off x="7287768" y="1325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forecast</a:t>
            </a:r>
            <a:endParaRPr sz="10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A252DD8-72FA-426B-B2B9-963524326CC5}"/>
              </a:ext>
            </a:extLst>
          </p:cNvPr>
          <p:cNvSpPr>
            <a:spLocks noGrp="1"/>
          </p:cNvSpPr>
          <p:nvPr/>
        </p:nvSpPr>
        <p:spPr>
          <a:xfrm>
            <a:off x="7287768" y="1664208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Reads the latest versioned strategy</a:t>
            </a:r>
            <a:endParaRPr sz="85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5E0FD72E-77B4-4B8A-87C8-14BBB158E45E}"/>
              </a:ext>
            </a:extLst>
          </p:cNvPr>
          <p:cNvSpPr>
            <a:spLocks noGrp="1"/>
          </p:cNvSpPr>
          <p:nvPr/>
        </p:nvSpPr>
        <p:spPr>
          <a:xfrm>
            <a:off x="4572000" y="2331720"/>
            <a:ext cx="0" cy="457200"/>
          </a:xfrm>
          <a:prstGeom prst="line">
            <a:avLst/>
          </a:prstGeom>
          <a:noFill/>
          <a:ln w="19050">
            <a:solidFill>
              <a:srgbClr val="2E7D5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8B8EB221-CBC3-49C2-B528-D69752843D0C}"/>
              </a:ext>
            </a:extLst>
          </p:cNvPr>
          <p:cNvSpPr>
            <a:spLocks noGrp="1"/>
          </p:cNvSpPr>
          <p:nvPr/>
        </p:nvSpPr>
        <p:spPr>
          <a:xfrm>
            <a:off x="2898648" y="2788920"/>
            <a:ext cx="3346704" cy="868680"/>
          </a:xfrm>
          <a:prstGeom prst="rect">
            <a:avLst/>
          </a:prstGeom>
          <a:solidFill>
            <a:srgbClr val="E8F3EE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ACB144F-F994-4558-8C02-11ED26C9E7F9}"/>
              </a:ext>
            </a:extLst>
          </p:cNvPr>
          <p:cNvSpPr>
            <a:spLocks noGrp="1"/>
          </p:cNvSpPr>
          <p:nvPr/>
        </p:nvSpPr>
        <p:spPr>
          <a:xfrm>
            <a:off x="2990088" y="2834640"/>
            <a:ext cx="316382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skill_state.yaml: versioned strategy memory</a:t>
            </a:r>
            <a:endParaRPr sz="1050"/>
          </a:p>
          <a:p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Stores observations, hypotheses and calibration rules. Typed tools control every change; the audit log records before/after hashes.</a:t>
            </a:r>
            <a:endParaRPr sz="105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DCC6C130-D50D-4FD9-88E0-A795F27C32C2}"/>
              </a:ext>
            </a:extLst>
          </p:cNvPr>
          <p:cNvSpPr>
            <a:spLocks noGrp="1"/>
          </p:cNvSpPr>
          <p:nvPr/>
        </p:nvSpPr>
        <p:spPr>
          <a:xfrm>
            <a:off x="411480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A45F5CA0-21EA-4CE4-923B-6BD0598D2511}"/>
              </a:ext>
            </a:extLst>
          </p:cNvPr>
          <p:cNvSpPr>
            <a:spLocks noGrp="1"/>
          </p:cNvSpPr>
          <p:nvPr/>
        </p:nvSpPr>
        <p:spPr>
          <a:xfrm>
            <a:off x="411480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22C71DB2-4753-4E67-8EBC-019D09A44FE3}"/>
              </a:ext>
            </a:extLst>
          </p:cNvPr>
          <p:cNvSpPr>
            <a:spLocks noGrp="1"/>
          </p:cNvSpPr>
          <p:nvPr/>
        </p:nvSpPr>
        <p:spPr>
          <a:xfrm>
            <a:off x="576072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Hard refusal</a:t>
            </a:r>
            <a:endParaRPr sz="105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5A372FB5-56C3-4282-B3B1-252D98B6F00C}"/>
              </a:ext>
            </a:extLst>
          </p:cNvPr>
          <p:cNvSpPr>
            <a:spLocks noGrp="1"/>
          </p:cNvSpPr>
          <p:nvPr/>
        </p:nvSpPr>
        <p:spPr>
          <a:xfrm>
            <a:off x="576072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An unresolved or unknown origin cannot confirm or refute a hypothesis.</a:t>
            </a:r>
            <a:endParaRPr sz="90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730831D3-DAF9-4499-8243-55652ADE8409}"/>
              </a:ext>
            </a:extLst>
          </p:cNvPr>
          <p:cNvSpPr>
            <a:spLocks noGrp="1"/>
          </p:cNvSpPr>
          <p:nvPr/>
        </p:nvSpPr>
        <p:spPr>
          <a:xfrm>
            <a:off x="3218688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7B9A7A44-1CDD-437D-A22B-0D0DBC2A0421}"/>
              </a:ext>
            </a:extLst>
          </p:cNvPr>
          <p:cNvSpPr>
            <a:spLocks noGrp="1"/>
          </p:cNvSpPr>
          <p:nvPr/>
        </p:nvSpPr>
        <p:spPr>
          <a:xfrm>
            <a:off x="3218688" y="3794760"/>
            <a:ext cx="54864" cy="91440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8433C26-B344-410C-AD1D-68CBAD7F19A6}"/>
              </a:ext>
            </a:extLst>
          </p:cNvPr>
          <p:cNvSpPr>
            <a:spLocks noGrp="1"/>
          </p:cNvSpPr>
          <p:nvPr/>
        </p:nvSpPr>
        <p:spPr>
          <a:xfrm>
            <a:off x="3383280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Promotion gate</a:t>
            </a:r>
            <a:endParaRPr sz="105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3AD61630-2815-41FD-A5FE-018F72A1B18C}"/>
              </a:ext>
            </a:extLst>
          </p:cNvPr>
          <p:cNvSpPr>
            <a:spLocks noGrp="1"/>
          </p:cNvSpPr>
          <p:nvPr/>
        </p:nvSpPr>
        <p:spPr>
          <a:xfrm>
            <a:off x="3383280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calibration rule needs 3 confirmations from distinct resolved origins.</a:t>
            </a:r>
            <a:endParaRPr sz="90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6DD3AA85-2DE6-4E8D-A57B-99279BF8B765}"/>
              </a:ext>
            </a:extLst>
          </p:cNvPr>
          <p:cNvSpPr>
            <a:spLocks noGrp="1"/>
          </p:cNvSpPr>
          <p:nvPr/>
        </p:nvSpPr>
        <p:spPr>
          <a:xfrm>
            <a:off x="6025896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18FC8241-50CE-45A3-B5D2-857C9CA7E2F7}"/>
              </a:ext>
            </a:extLst>
          </p:cNvPr>
          <p:cNvSpPr>
            <a:spLocks noGrp="1"/>
          </p:cNvSpPr>
          <p:nvPr/>
        </p:nvSpPr>
        <p:spPr>
          <a:xfrm>
            <a:off x="6025896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D7261A7E-68BE-4A15-9E82-037A2B2B9051}"/>
              </a:ext>
            </a:extLst>
          </p:cNvPr>
          <p:cNvSpPr>
            <a:spLocks noGrp="1"/>
          </p:cNvSpPr>
          <p:nvPr/>
        </p:nvSpPr>
        <p:spPr>
          <a:xfrm>
            <a:off x="6190488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Auditability</a:t>
            </a:r>
            <a:endParaRPr sz="105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68BE97C5-EBAC-4A35-974A-B363BA7B67EA}"/>
              </a:ext>
            </a:extLst>
          </p:cNvPr>
          <p:cNvSpPr>
            <a:spLocks noGrp="1"/>
          </p:cNvSpPr>
          <p:nvPr/>
        </p:nvSpPr>
        <p:spPr>
          <a:xfrm>
            <a:off x="6190488" y="4178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update records the review origin, tool, timestamp and before/after hashes.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71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OUTCOME-GROUNDED WALK-FORWARD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Governance Improved, Forecast Skill Did Not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DC895FAD-0B19-4024-8F26-17BD8AE88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840B189D-9ED6-476C-8484-3C7AE2966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675"/>
            </a:defPPr>
          </a:lstStyle>
          <a:p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8</a:t>
            </a:r>
            <a:endParaRPr sz="75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noGrp="1"/>
          </p:cNvSpPr>
          <p:nvPr/>
        </p:nvSpPr>
        <p:spPr>
          <a:xfrm>
            <a:off x="411480" y="4343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76 resolved origins, 2006-2024; 6 stress outcomes.</a:t>
            </a:r>
            <a:endParaRPr sz="85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noGrp="1"/>
          </p:cNvSpPr>
          <p:nvPr/>
        </p:nvSpPr>
        <p:spPr>
          <a:xfrm>
            <a:off x="57150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-1.6%</a:t>
            </a:r>
            <a:endParaRPr sz="28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noGrp="1"/>
          </p:cNvSpPr>
          <p:nvPr/>
        </p:nvSpPr>
        <p:spPr>
          <a:xfrm>
            <a:off x="57150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Reviewed adaptive skill vs baseline</a:t>
            </a:r>
            <a:endParaRPr sz="9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noGrp="1"/>
          </p:cNvSpPr>
          <p:nvPr/>
        </p:nvSpPr>
        <p:spPr>
          <a:xfrm>
            <a:off x="7315200" y="1005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p = 0.396</a:t>
            </a:r>
            <a:endParaRPr sz="28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noGrp="1"/>
          </p:cNvSpPr>
          <p:nvPr/>
        </p:nvSpPr>
        <p:spPr>
          <a:xfrm>
            <a:off x="7315200" y="15361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Reviewed adaptive agent vs anchor</a:t>
            </a:r>
            <a:endParaRPr sz="90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noGrp="1"/>
          </p:cNvSpPr>
          <p:nvPr/>
        </p:nvSpPr>
        <p:spPr>
          <a:xfrm>
            <a:off x="5715000" y="2194560"/>
            <a:ext cx="310896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reviewer ran 24 times and created 35 audited mutations.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Reviewed and no-review agents were nearly identical: 0.0756 vs 0.0755.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reviewed agent beat its anchor by 0.0013, but the gap was not significant.</a:t>
            </a:r>
            <a:endParaRPr sz="95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Late-period performance was worse than the anchor, so the run does not show learning. It does show a valid, auditable test design.</a:t>
            </a:r>
            <a:endParaRPr sz="9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2C2DB19-74CF-41A6-AD8B-8B6A6E8DA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0040" y="1006010"/>
            <a:ext cx="5120640" cy="32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5B5AE7-86E3-4E2F-A146-D0169B4AE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66B350-0760-4B5F-868E-83B7567A390F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NEXT STEPS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1F2D6F-C6FA-4E07-8E51-58E91A3AC519}"/>
              </a:ext>
            </a:extLst>
          </p:cNvPr>
          <p:cNvSpPr>
            <a:spLocks noGrp="1"/>
          </p:cNvSpPr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Steps and Opportunities</a:t>
            </a:r>
            <a:endParaRPr sz="220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1C4B864-20DD-437C-9A30-5B3880EB8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F54AC5D4-ABCC-4C8D-9CF4-89109CA65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ED3CA66-D0AD-437A-9D19-99ECD82600BA}"/>
              </a:ext>
            </a:extLst>
          </p:cNvPr>
          <p:cNvSpPr>
            <a:spLocks noGrp="1"/>
          </p:cNvSpPr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B638595-26CC-4A9C-A147-EF41463AB83D}"/>
              </a:ext>
            </a:extLst>
          </p:cNvPr>
          <p:cNvSpPr>
            <a:spLocks noGrp="1"/>
          </p:cNvSpPr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9</a:t>
            </a:r>
            <a:endParaRPr sz="7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1D47574-DD3A-4276-8918-A78A2377D800}"/>
              </a:ext>
            </a:extLst>
          </p:cNvPr>
          <p:cNvSpPr>
            <a:spLocks noGrp="1"/>
          </p:cNvSpPr>
          <p:nvPr/>
        </p:nvSpPr>
        <p:spPr>
          <a:xfrm>
            <a:off x="41148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steps to mature the proof of concept</a:t>
            </a:r>
            <a:endParaRPr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9921904-01AC-4B3E-AB2D-B3A7C1B0FF51}"/>
              </a:ext>
            </a:extLst>
          </p:cNvPr>
          <p:cNvSpPr>
            <a:spLocks noGrp="1"/>
          </p:cNvSpPr>
          <p:nvPr/>
        </p:nvSpPr>
        <p:spPr>
          <a:xfrm>
            <a:off x="411480" y="144475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72B353E-E9EE-42DC-9255-E22185E13FEE}"/>
              </a:ext>
            </a:extLst>
          </p:cNvPr>
          <p:cNvSpPr>
            <a:spLocks noGrp="1"/>
          </p:cNvSpPr>
          <p:nvPr/>
        </p:nvSpPr>
        <p:spPr>
          <a:xfrm>
            <a:off x="411480" y="14447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1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D034589-CFB7-4985-A0FE-6C9255A2C4F4}"/>
              </a:ext>
            </a:extLst>
          </p:cNvPr>
          <p:cNvSpPr>
            <a:spLocks noGrp="1"/>
          </p:cNvSpPr>
          <p:nvPr/>
        </p:nvSpPr>
        <p:spPr>
          <a:xfrm>
            <a:off x="914400" y="137160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Prospective test</a:t>
            </a:r>
            <a:endParaRPr sz="110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Freeze the configuration and log immutable forecasts before outcomes are known.</a:t>
            </a:r>
            <a:endParaRPr sz="11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6D32465-E375-45E0-8142-56D41D2FC141}"/>
              </a:ext>
            </a:extLst>
          </p:cNvPr>
          <p:cNvSpPr>
            <a:spLocks noGrp="1"/>
          </p:cNvSpPr>
          <p:nvPr/>
        </p:nvSpPr>
        <p:spPr>
          <a:xfrm>
            <a:off x="411480" y="226771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55117CC-BEE6-4FBA-B7A1-463673D5A036}"/>
              </a:ext>
            </a:extLst>
          </p:cNvPr>
          <p:cNvSpPr>
            <a:spLocks noGrp="1"/>
          </p:cNvSpPr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409A475-D825-4523-B202-FEBB1092066D}"/>
              </a:ext>
            </a:extLst>
          </p:cNvPr>
          <p:cNvSpPr>
            <a:spLocks noGrp="1"/>
          </p:cNvSpPr>
          <p:nvPr/>
        </p:nvSpPr>
        <p:spPr>
          <a:xfrm>
            <a:off x="914400" y="21945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Prospective test of memory</a:t>
            </a:r>
          </a:p>
          <a:p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memory-less hybrid agent with an adaptive agent going forward, with memory updated only from forecasts that have actually resolved, and over enough stress events to tell them apart.</a:t>
            </a:r>
            <a:endParaRPr sz="11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BCDBF91-2BA9-4449-9747-5FA28040DF9B}"/>
              </a:ext>
            </a:extLst>
          </p:cNvPr>
          <p:cNvSpPr>
            <a:spLocks noGrp="1"/>
          </p:cNvSpPr>
          <p:nvPr/>
        </p:nvSpPr>
        <p:spPr>
          <a:xfrm>
            <a:off x="411480" y="309067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C057176-A02B-40F4-8592-926817A2DC2B}"/>
              </a:ext>
            </a:extLst>
          </p:cNvPr>
          <p:cNvSpPr>
            <a:spLocks noGrp="1"/>
          </p:cNvSpPr>
          <p:nvPr/>
        </p:nvSpPr>
        <p:spPr>
          <a:xfrm>
            <a:off x="411480" y="3090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66792B0-A1FB-4F2C-BAD8-8A5F42D1BC68}"/>
              </a:ext>
            </a:extLst>
          </p:cNvPr>
          <p:cNvSpPr>
            <a:spLocks noGrp="1"/>
          </p:cNvSpPr>
          <p:nvPr/>
        </p:nvSpPr>
        <p:spPr>
          <a:xfrm>
            <a:off x="914400" y="301752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Leading indicators</a:t>
            </a:r>
            <a:endParaRPr sz="110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Add forward-looking inputs (for example, new orders or surveys) and longer histories to capture more events.</a:t>
            </a:r>
            <a:endParaRPr sz="110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2475B51D-AA0B-4240-BFEF-869B3B810299}"/>
              </a:ext>
            </a:extLst>
          </p:cNvPr>
          <p:cNvSpPr>
            <a:spLocks noGrp="1"/>
          </p:cNvSpPr>
          <p:nvPr/>
        </p:nvSpPr>
        <p:spPr>
          <a:xfrm>
            <a:off x="411480" y="391363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DBF9EC7-68BD-4AFB-8DF2-0E44328B6A9F}"/>
              </a:ext>
            </a:extLst>
          </p:cNvPr>
          <p:cNvSpPr>
            <a:spLocks noGrp="1"/>
          </p:cNvSpPr>
          <p:nvPr/>
        </p:nvSpPr>
        <p:spPr>
          <a:xfrm>
            <a:off x="411480" y="39136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37D921F-60D5-4D2C-B0D7-E7FE0FE938DF}"/>
              </a:ext>
            </a:extLst>
          </p:cNvPr>
          <p:cNvSpPr>
            <a:spLocks noGrp="1"/>
          </p:cNvSpPr>
          <p:nvPr/>
        </p:nvSpPr>
        <p:spPr>
          <a:xfrm>
            <a:off x="914400" y="384048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Fix explanation quality</a:t>
            </a:r>
            <a:endParaRPr sz="1100"/>
          </a:p>
          <a:p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Investigate inconsistent quoted inputs and validate rationales against the actual feature snapshot.</a:t>
            </a:r>
            <a:endParaRPr sz="110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4FDE013-2EEE-4FCE-8AA5-AC23B28DBD16}"/>
              </a:ext>
            </a:extLst>
          </p:cNvPr>
          <p:cNvSpPr>
            <a:spLocks noGrp="1"/>
          </p:cNvSpPr>
          <p:nvPr/>
        </p:nvSpPr>
        <p:spPr>
          <a:xfrm>
            <a:off x="4800600" y="1005840"/>
            <a:ext cx="4023360" cy="37033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C076CCD-0F29-434C-AD57-7163F2BA7732}"/>
              </a:ext>
            </a:extLst>
          </p:cNvPr>
          <p:cNvSpPr>
            <a:spLocks noGrp="1"/>
          </p:cNvSpPr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value</a:t>
            </a:r>
            <a:endParaRPr sz="13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8B7C8D3-ED0D-4BFC-90CB-1DD5D6256078}"/>
              </a:ext>
            </a:extLst>
          </p:cNvPr>
          <p:cNvSpPr>
            <a:spLocks noGrp="1"/>
          </p:cNvSpPr>
          <p:nvPr/>
        </p:nvSpPr>
        <p:spPr>
          <a:xfrm>
            <a:off x="5029200" y="1554480"/>
            <a:ext cx="361188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reusable pattern for sector early-warning monitoring: statistical anchor + bounded agent + audit trail.</a:t>
            </a:r>
            <a:endParaRPr sz="10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Analyst-style commentary at scale, with every forecast traceable to evidence and model version.</a:t>
            </a:r>
            <a:endParaRPr sz="10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governance template for agentic models in regulated settings: what the agent may change, how changes are gated, and how they are logged.</a:t>
            </a:r>
            <a:endParaRPr sz="10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workbench can be pointed at other industries or targets.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489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23DC4EA3-3D1F-4B24-9DB2-45E987AFB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85800"/>
            <a:ext cx="3383280" cy="3803904"/>
          </a:xfrm>
          <a:prstGeom prst="rect">
            <a:avLst/>
          </a:prstGeom>
        </p:spPr>
      </p:pic>
      <p:pic>
        <p:nvPicPr>
          <p:cNvPr id="3" name="Image 1">
            <a:extLst>
              <a:ext uri="{FF2B5EF4-FFF2-40B4-BE49-F238E27FC236}">
                <a16:creationId xmlns:a16="http://schemas.microsoft.com/office/drawing/2014/main" id="{1A0933C1-A225-4803-A134-F55D224C0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4320"/>
            <a:ext cx="1097280" cy="4572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569AC677-C547-4B41-86AC-F662162A1D16}"/>
              </a:ext>
            </a:extLst>
          </p:cNvPr>
          <p:cNvSpPr>
            <a:spLocks noGrp="1"/>
          </p:cNvSpPr>
          <p:nvPr/>
        </p:nvSpPr>
        <p:spPr>
          <a:xfrm>
            <a:off x="6400800" y="246888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E255B58B-22E1-43E5-B48F-B04DEE3AF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29184"/>
            <a:ext cx="2194560" cy="30314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3078D93B-88FF-44EA-8B2D-E46E9014D80E}"/>
              </a:ext>
            </a:extLst>
          </p:cNvPr>
          <p:cNvSpPr>
            <a:spLocks noGrp="1"/>
          </p:cNvSpPr>
          <p:nvPr/>
        </p:nvSpPr>
        <p:spPr>
          <a:xfrm>
            <a:off x="4389120" y="155448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You!</a:t>
            </a:r>
            <a:endParaRPr sz="40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BF55F48-5E6C-461B-8106-41FC8B8E966A}"/>
              </a:ext>
            </a:extLst>
          </p:cNvPr>
          <p:cNvSpPr>
            <a:spLocks noGrp="1"/>
          </p:cNvSpPr>
          <p:nvPr/>
        </p:nvSpPr>
        <p:spPr>
          <a:xfrm>
            <a:off x="4389120" y="23317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C9DCEB"/>
                </a:solidFill>
                <a:latin typeface="Arial"/>
                <a:ea typeface="Arial"/>
                <a:cs typeface="Arial"/>
              </a:rPr>
              <a:t>Team BMO Two  |  Agentic AI Forecasting Bootcamp</a:t>
            </a:r>
            <a:endParaRPr sz="130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2001241-BC68-480D-A226-CFDCB8665CD4}"/>
              </a:ext>
            </a:extLst>
          </p:cNvPr>
          <p:cNvSpPr>
            <a:spLocks noGrp="1"/>
          </p:cNvSpPr>
          <p:nvPr/>
        </p:nvSpPr>
        <p:spPr>
          <a:xfrm>
            <a:off x="4389120" y="27432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8EC9EC"/>
                </a:solidFill>
                <a:latin typeface="Arial"/>
                <a:ea typeface="Arial"/>
                <a:cs typeface="Arial"/>
              </a:rPr>
              <a:t>Questions and feedback welcome</a:t>
            </a:r>
            <a:endParaRPr sz="11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C5A0EF5-B279-45E8-A20E-9F568922A93B}"/>
              </a:ext>
            </a:extLst>
          </p:cNvPr>
          <p:cNvSpPr>
            <a:spLocks noGrp="1"/>
          </p:cNvSpPr>
          <p:nvPr/>
        </p:nvSpPr>
        <p:spPr>
          <a:xfrm>
            <a:off x="4389120" y="338328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Mina Attari  ·  Nitya Joshi  ·  Pratyush Patodia  ·  Vaibhav K Beohar  ·  Navid Sabbaghi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3510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1373</Words>
  <Application>Microsoft Office PowerPoint</Application>
  <DocSecurity>0</DocSecurity>
  <PresentationFormat>On-screen Show (16:9)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Mina Attari</cp:lastModifiedBy>
  <cp:revision>5</cp:revision>
  <dcterms:created xsi:type="dcterms:W3CDTF">2026-10-09T04:59:43Z</dcterms:created>
  <dcterms:modified xsi:type="dcterms:W3CDTF">2026-10-13T03:12:35Z</dcterms:modified>
</cp:coreProperties>
</file>