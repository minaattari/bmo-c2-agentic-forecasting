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7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as a bootcamp learning exercise. The goal was to learn how to design, evaluate and govern an agentic forecaster, not to ship a production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7531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main deliverable is learning. The bounded agent stayed close to the statistical anchor, but rare events and coincident signals meant no model beat the base rate in this backtest.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 rate 6.25% (20 of 320 months). No dollar impact is claimed; the value case is earlier, more consistent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the 8 candidates with both scores reported are shown. 2018-2024 is a historical diagnostic, not a protected holdout.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guardrail limited harm; it did not create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Branch addition: cutoff-aware OutcomeLedger and separate periodic strategy review.</a:t>
            </a:r>
            <a:endParaRPr/>
          </a:p>
          <a:p>
            <a:r>
              <a:t>The key control is temporal: an outcome cannot enter memory until its publication date is at or before the current forecast origin.</a:t>
            </a:r>
            <a:endParaRPr/>
          </a:p>
          <a:p>
            <a:r>
              <a:t>Source: adaptive_agent/ledger.py, adaptive_agent/review.py and adaptive_agent/tools.py.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changes make the adaptive process testable. Memory writes now have a resolvable evidence chain rather than narrative references to the current forecast.</a:t>
            </a:r>
            <a:endParaRPr/>
          </a:p>
          <a:p>
            <a:r>
              <a:t>Source: branch commits 5bd7ce1, aef3a51 and 0e6c584; test_adaptive_learning.py; reports/full_history.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reports/full_history/executive_report.md and tables/model_comparison.csv.</a:t>
            </a:r>
            <a:endParaRPr/>
          </a:p>
          <a:p>
            <a:r>
              <a:t>The interval uses a six-month circular block bootstrap. The DM test uses HAC variance for overlapping three-month forecast horizons.</a:t>
            </a:r>
            <a:endParaRPr/>
          </a:p>
          <a:p>
            <a:r>
              <a:t>The result concerns the evaluated feature set and retrospective sample; it does not prove that manufacturing stress is inherently unpredictable.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reports/adaptive_walk_forward/lite and reports/adaptive_walk_forward/lite_no_review.</a:t>
            </a:r>
            <a:endParaRPr/>
          </a:p>
          <a:p>
            <a:r>
              <a:t>The reviewed adaptive-versus-anchor mean Brier difference was -0.00132 with DM p = 0.396. Negative favors the adaptive agent.</a:t>
            </a:r>
            <a:endParaRPr/>
          </a:p>
          <a:p>
            <a:r>
              <a:t>Reviews occurred every four origins and after a newly resolved stress event. The saved run contains 76 forecasts, 24 reviews and 35 strategy mutations.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DCFFD1-8F89-4C7B-BE9A-FFA906F26A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44B52EB0-AE46-49BE-9E5E-5D62BB8F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1097280" cy="457200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405EF1BF-DE44-41CF-B6BC-18A5865F732F}"/>
              </a:ext>
            </a:extLst>
          </p:cNvPr>
          <p:cNvSpPr>
            <a:spLocks noGrp="1"/>
          </p:cNvSpPr>
          <p:nvPr/>
        </p:nvSpPr>
        <p:spPr>
          <a:xfrm>
            <a:off x="6400800" y="246888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>
            <a:extLst>
              <a:ext uri="{FF2B5EF4-FFF2-40B4-BE49-F238E27FC236}">
                <a16:creationId xmlns:a16="http://schemas.microsoft.com/office/drawing/2014/main" id="{A53B6898-8432-4D87-8E56-9F4EF0F20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9184"/>
            <a:ext cx="2194560" cy="303142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235C90B2-CC6C-4138-A753-CC83DAA03783}"/>
              </a:ext>
            </a:extLst>
          </p:cNvPr>
          <p:cNvSpPr>
            <a:spLocks noGrp="1"/>
          </p:cNvSpPr>
          <p:nvPr/>
        </p:nvSpPr>
        <p:spPr>
          <a:xfrm>
            <a:off x="548640" y="9144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 spc="200">
                <a:solidFill>
                  <a:srgbClr val="8EC9EC"/>
                </a:solidFill>
                <a:latin typeface="Arial"/>
                <a:ea typeface="Arial"/>
                <a:cs typeface="Arial"/>
              </a:rPr>
              <a:t>AGENTIC AI FORECASTING BOOTCAMP</a:t>
            </a:r>
            <a:endParaRPr sz="95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D361F54-7932-48C5-ABD2-9472EA81933F}"/>
              </a:ext>
            </a:extLst>
          </p:cNvPr>
          <p:cNvSpPr>
            <a:spLocks noGrp="1"/>
          </p:cNvSpPr>
          <p:nvPr/>
        </p:nvSpPr>
        <p:spPr>
          <a:xfrm>
            <a:off x="548639" y="1280160"/>
            <a:ext cx="7979343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Forecasting U.S. Manufacturing Stress with a Governed Adaptive Agent</a:t>
            </a:r>
            <a:endParaRPr sz="28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31C7D8A-36FC-4182-8487-EBC2A16D6381}"/>
              </a:ext>
            </a:extLst>
          </p:cNvPr>
          <p:cNvSpPr>
            <a:spLocks noGrp="1"/>
          </p:cNvSpPr>
          <p:nvPr/>
        </p:nvSpPr>
        <p:spPr>
          <a:xfrm>
            <a:off x="548640" y="2743200"/>
            <a:ext cx="7712242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C9DCEB"/>
                </a:solidFill>
                <a:latin typeface="Arial"/>
                <a:ea typeface="Arial"/>
                <a:cs typeface="Arial"/>
              </a:rPr>
              <a:t>What we learned combining a statistical anchor, an LLM analyst and auditable agent memory</a:t>
            </a:r>
            <a:endParaRPr sz="125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9960333-B137-414B-BBDA-942601E78E81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45720" cy="64008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9A9EDBA-F4D9-4B8A-A5BB-7EC863F423D9}"/>
              </a:ext>
            </a:extLst>
          </p:cNvPr>
          <p:cNvSpPr>
            <a:spLocks noGrp="1"/>
          </p:cNvSpPr>
          <p:nvPr/>
        </p:nvSpPr>
        <p:spPr>
          <a:xfrm>
            <a:off x="731520" y="36118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BMO Two</a:t>
            </a:r>
            <a:endParaRPr sz="1300"/>
          </a:p>
          <a:p>
            <a:pPr marL="0" indent="0">
              <a:buNone/>
            </a:pPr>
            <a:r>
              <a:rPr sz="10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October 2026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2032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4373B4-A95E-4D42-BA4F-1501C06ABB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0C390B-9581-405F-AE4D-64CB988E633E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TEAM BMO TWO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83B5A8-8539-4172-AB7F-8933EF00EAE8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Meet the Team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1C113FC4-4238-4875-9B1E-5D64564CE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1A4C06EF-73A9-429C-8745-D52B4665F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AA861B3-1B61-4530-9470-ABC997C23FEE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88CB929-EB70-4FA3-9A89-AC2BD1A346C6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6BF7987-4CE4-4C33-8D6B-BF9C358B1EAA}"/>
              </a:ext>
            </a:extLst>
          </p:cNvPr>
          <p:cNvSpPr>
            <a:spLocks noGrp="1"/>
          </p:cNvSpPr>
          <p:nvPr/>
        </p:nvSpPr>
        <p:spPr>
          <a:xfrm>
            <a:off x="402336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AE677E0-B68C-4E5F-95E6-634C1E4F9D2A}"/>
              </a:ext>
            </a:extLst>
          </p:cNvPr>
          <p:cNvSpPr>
            <a:spLocks noGrp="1"/>
          </p:cNvSpPr>
          <p:nvPr/>
        </p:nvSpPr>
        <p:spPr>
          <a:xfrm>
            <a:off x="402336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AA4B1F2-4BF0-4AD7-A47E-451A57F48A42}"/>
              </a:ext>
            </a:extLst>
          </p:cNvPr>
          <p:cNvSpPr>
            <a:spLocks noGrp="1"/>
          </p:cNvSpPr>
          <p:nvPr/>
        </p:nvSpPr>
        <p:spPr>
          <a:xfrm>
            <a:off x="653796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C483333-F82A-48E0-AEF3-C0A688A6B03F}"/>
              </a:ext>
            </a:extLst>
          </p:cNvPr>
          <p:cNvSpPr>
            <a:spLocks noGrp="1"/>
          </p:cNvSpPr>
          <p:nvPr/>
        </p:nvSpPr>
        <p:spPr>
          <a:xfrm>
            <a:off x="493776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Mina Attari</a:t>
            </a:r>
            <a:endParaRPr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5ECB514-5FDD-44B4-8ACF-7238723F0458}"/>
              </a:ext>
            </a:extLst>
          </p:cNvPr>
          <p:cNvSpPr>
            <a:spLocks noGrp="1"/>
          </p:cNvSpPr>
          <p:nvPr/>
        </p:nvSpPr>
        <p:spPr>
          <a:xfrm>
            <a:off x="493776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Wholesale </a:t>
            </a:r>
            <a:r>
              <a:rPr sz="900" dirty="0" smtClean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Credit</a:t>
            </a:r>
            <a:r>
              <a:rPr lang="en-CA" sz="900" dirty="0" smtClean="0">
                <a:solidFill>
                  <a:srgbClr val="1F2937"/>
                </a:solidFill>
                <a:latin typeface="Arial"/>
                <a:ea typeface="Arial"/>
                <a:cs typeface="Arial"/>
              </a:rPr>
              <a:t> Methodology</a:t>
            </a:r>
            <a:endParaRPr sz="9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4DB4F7B-0976-42AF-AA65-785138F2DCC4}"/>
              </a:ext>
            </a:extLst>
          </p:cNvPr>
          <p:cNvSpPr>
            <a:spLocks noGrp="1"/>
          </p:cNvSpPr>
          <p:nvPr/>
        </p:nvSpPr>
        <p:spPr>
          <a:xfrm>
            <a:off x="2121408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6921C3B-D47E-48C7-93E6-973DDDC7CFB1}"/>
              </a:ext>
            </a:extLst>
          </p:cNvPr>
          <p:cNvSpPr>
            <a:spLocks noGrp="1"/>
          </p:cNvSpPr>
          <p:nvPr/>
        </p:nvSpPr>
        <p:spPr>
          <a:xfrm>
            <a:off x="2121408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28117645-BFF9-4450-8D59-9A49D2C49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868" y="1508760"/>
            <a:ext cx="1051560" cy="1051560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9E4E39DF-336C-4781-97CC-D764D9AC5A5A}"/>
              </a:ext>
            </a:extLst>
          </p:cNvPr>
          <p:cNvSpPr>
            <a:spLocks noGrp="1"/>
          </p:cNvSpPr>
          <p:nvPr/>
        </p:nvSpPr>
        <p:spPr>
          <a:xfrm>
            <a:off x="2372868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7DD69DA-450A-4FA2-9A6A-8BD060CEFF69}"/>
              </a:ext>
            </a:extLst>
          </p:cNvPr>
          <p:cNvSpPr>
            <a:spLocks noGrp="1"/>
          </p:cNvSpPr>
          <p:nvPr/>
        </p:nvSpPr>
        <p:spPr>
          <a:xfrm>
            <a:off x="2212848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Nitya Joshi</a:t>
            </a:r>
            <a:endParaRPr sz="120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785B506B-2D74-4F0A-8034-4DB5BFFE990E}"/>
              </a:ext>
            </a:extLst>
          </p:cNvPr>
          <p:cNvSpPr>
            <a:spLocks noGrp="1"/>
          </p:cNvSpPr>
          <p:nvPr/>
        </p:nvSpPr>
        <p:spPr>
          <a:xfrm>
            <a:off x="2212848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Retail IFRS 9 / CECL Model Development</a:t>
            </a:r>
            <a:endParaRPr sz="90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59C89324-F2BF-452E-B53B-04C78491CE07}"/>
              </a:ext>
            </a:extLst>
          </p:cNvPr>
          <p:cNvSpPr>
            <a:spLocks noGrp="1"/>
          </p:cNvSpPr>
          <p:nvPr/>
        </p:nvSpPr>
        <p:spPr>
          <a:xfrm>
            <a:off x="3840480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67C6BFE-4174-4849-B709-DFF70CF5F3F6}"/>
              </a:ext>
            </a:extLst>
          </p:cNvPr>
          <p:cNvSpPr>
            <a:spLocks noGrp="1"/>
          </p:cNvSpPr>
          <p:nvPr/>
        </p:nvSpPr>
        <p:spPr>
          <a:xfrm>
            <a:off x="3840480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4">
            <a:extLst>
              <a:ext uri="{FF2B5EF4-FFF2-40B4-BE49-F238E27FC236}">
                <a16:creationId xmlns:a16="http://schemas.microsoft.com/office/drawing/2014/main" id="{93AD0539-49C0-424E-B7ED-68522BFC69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940" y="1508760"/>
            <a:ext cx="1051560" cy="1051560"/>
          </a:xfrm>
          <a:prstGeom prst="rect">
            <a:avLst/>
          </a:prstGeom>
        </p:spPr>
      </p:pic>
      <p:sp>
        <p:nvSpPr>
          <p:cNvPr id="24" name="Shape 17">
            <a:extLst>
              <a:ext uri="{FF2B5EF4-FFF2-40B4-BE49-F238E27FC236}">
                <a16:creationId xmlns:a16="http://schemas.microsoft.com/office/drawing/2014/main" id="{CF1C8E33-BE39-4DA2-B676-9D415E963B1A}"/>
              </a:ext>
            </a:extLst>
          </p:cNvPr>
          <p:cNvSpPr>
            <a:spLocks noGrp="1"/>
          </p:cNvSpPr>
          <p:nvPr/>
        </p:nvSpPr>
        <p:spPr>
          <a:xfrm>
            <a:off x="4091940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A8A4FFB6-8410-4921-997A-659D7C982380}"/>
              </a:ext>
            </a:extLst>
          </p:cNvPr>
          <p:cNvSpPr>
            <a:spLocks noGrp="1"/>
          </p:cNvSpPr>
          <p:nvPr/>
        </p:nvSpPr>
        <p:spPr>
          <a:xfrm>
            <a:off x="3931920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Pratyush Patodia</a:t>
            </a:r>
            <a:endParaRPr sz="120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FE7DE06A-091D-4860-BA12-541C129BB8D9}"/>
              </a:ext>
            </a:extLst>
          </p:cNvPr>
          <p:cNvSpPr>
            <a:spLocks noGrp="1"/>
          </p:cNvSpPr>
          <p:nvPr/>
        </p:nvSpPr>
        <p:spPr>
          <a:xfrm>
            <a:off x="3931920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IFRS 9 Wholesale Model Development</a:t>
            </a:r>
            <a:endParaRPr sz="90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B99E51A8-7FBB-4E6D-BBE4-C92D3F0FAECC}"/>
              </a:ext>
            </a:extLst>
          </p:cNvPr>
          <p:cNvSpPr>
            <a:spLocks noGrp="1"/>
          </p:cNvSpPr>
          <p:nvPr/>
        </p:nvSpPr>
        <p:spPr>
          <a:xfrm>
            <a:off x="5559552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F68266FD-BD27-43B7-9DE8-F54DA48B282E}"/>
              </a:ext>
            </a:extLst>
          </p:cNvPr>
          <p:cNvSpPr>
            <a:spLocks noGrp="1"/>
          </p:cNvSpPr>
          <p:nvPr/>
        </p:nvSpPr>
        <p:spPr>
          <a:xfrm>
            <a:off x="5559552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5">
            <a:extLst>
              <a:ext uri="{FF2B5EF4-FFF2-40B4-BE49-F238E27FC236}">
                <a16:creationId xmlns:a16="http://schemas.microsoft.com/office/drawing/2014/main" id="{F3F82BA4-6FE5-4C35-B067-10AE5CF18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012" y="1508760"/>
            <a:ext cx="1051560" cy="1051560"/>
          </a:xfrm>
          <a:prstGeom prst="rect">
            <a:avLst/>
          </a:prstGeom>
        </p:spPr>
      </p:pic>
      <p:sp>
        <p:nvSpPr>
          <p:cNvPr id="30" name="Shape 22">
            <a:extLst>
              <a:ext uri="{FF2B5EF4-FFF2-40B4-BE49-F238E27FC236}">
                <a16:creationId xmlns:a16="http://schemas.microsoft.com/office/drawing/2014/main" id="{EBDB7093-6E90-4CC4-BF28-9D621B8EF5F5}"/>
              </a:ext>
            </a:extLst>
          </p:cNvPr>
          <p:cNvSpPr>
            <a:spLocks noGrp="1"/>
          </p:cNvSpPr>
          <p:nvPr/>
        </p:nvSpPr>
        <p:spPr>
          <a:xfrm>
            <a:off x="5811012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16E40251-CE9D-436C-9D91-F0C445736E08}"/>
              </a:ext>
            </a:extLst>
          </p:cNvPr>
          <p:cNvSpPr>
            <a:spLocks noGrp="1"/>
          </p:cNvSpPr>
          <p:nvPr/>
        </p:nvSpPr>
        <p:spPr>
          <a:xfrm>
            <a:off x="5650992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Vaibhav K Beohar</a:t>
            </a:r>
            <a:endParaRPr sz="120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AF9BB834-CB37-49A0-993A-77904A4A56C3}"/>
              </a:ext>
            </a:extLst>
          </p:cNvPr>
          <p:cNvSpPr>
            <a:spLocks noGrp="1"/>
          </p:cNvSpPr>
          <p:nvPr/>
        </p:nvSpPr>
        <p:spPr>
          <a:xfrm>
            <a:off x="5650992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Machine Learning</a:t>
            </a:r>
            <a:endParaRPr sz="9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3D05A749-9BEC-48F6-AEAB-4A66585FB2AB}"/>
              </a:ext>
            </a:extLst>
          </p:cNvPr>
          <p:cNvSpPr>
            <a:spLocks noGrp="1"/>
          </p:cNvSpPr>
          <p:nvPr/>
        </p:nvSpPr>
        <p:spPr>
          <a:xfrm>
            <a:off x="7278624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450B452C-B4A0-4D0C-B496-00AF63A82500}"/>
              </a:ext>
            </a:extLst>
          </p:cNvPr>
          <p:cNvSpPr>
            <a:spLocks noGrp="1"/>
          </p:cNvSpPr>
          <p:nvPr/>
        </p:nvSpPr>
        <p:spPr>
          <a:xfrm>
            <a:off x="7278624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B2388091-28F6-4A7A-A206-11175F3C9334}"/>
              </a:ext>
            </a:extLst>
          </p:cNvPr>
          <p:cNvSpPr>
            <a:spLocks noGrp="1"/>
          </p:cNvSpPr>
          <p:nvPr/>
        </p:nvSpPr>
        <p:spPr>
          <a:xfrm>
            <a:off x="7530084" y="1508760"/>
            <a:ext cx="1051560" cy="1051560"/>
          </a:xfrm>
          <a:prstGeom prst="ellipse">
            <a:avLst/>
          </a:prstGeom>
          <a:solidFill>
            <a:srgbClr val="E6F2FA"/>
          </a:solidFill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599B2C83-8D06-4B36-90FD-5D604F595C83}"/>
              </a:ext>
            </a:extLst>
          </p:cNvPr>
          <p:cNvSpPr>
            <a:spLocks noGrp="1"/>
          </p:cNvSpPr>
          <p:nvPr/>
        </p:nvSpPr>
        <p:spPr>
          <a:xfrm>
            <a:off x="7530084" y="150876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24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C0574D6-F90C-4955-AD44-1F96C699AC99}"/>
              </a:ext>
            </a:extLst>
          </p:cNvPr>
          <p:cNvSpPr>
            <a:spLocks noGrp="1"/>
          </p:cNvSpPr>
          <p:nvPr/>
        </p:nvSpPr>
        <p:spPr>
          <a:xfrm>
            <a:off x="7370064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Navid Sabbaghi</a:t>
            </a:r>
            <a:endParaRPr sz="120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13713568-33B4-4639-8B02-15E47B63A4FA}"/>
              </a:ext>
            </a:extLst>
          </p:cNvPr>
          <p:cNvSpPr>
            <a:spLocks noGrp="1"/>
          </p:cNvSpPr>
          <p:nvPr/>
        </p:nvSpPr>
        <p:spPr>
          <a:xfrm>
            <a:off x="7370064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Specialist, IC</a:t>
            </a:r>
            <a:endParaRPr sz="90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7" t="15967" r="29808" b="44856"/>
          <a:stretch/>
        </p:blipFill>
        <p:spPr>
          <a:xfrm>
            <a:off x="654156" y="1508760"/>
            <a:ext cx="1051200" cy="1051200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" t="9959" r="7365" b="8149"/>
          <a:stretch/>
        </p:blipFill>
        <p:spPr>
          <a:xfrm>
            <a:off x="7530447" y="1509120"/>
            <a:ext cx="1051197" cy="1051200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6515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B0E88F-2DA8-4086-B96C-BE7627889E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D9C178-D29F-48A5-A901-B146E916A09B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IN ONE PAGE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7F04C9-230B-41B6-9124-515516B1952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Executive Summary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20FC7CA4-86B7-4879-BEB1-4B91037C1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7F2CF1AC-E96D-4BB5-84FC-BBAA18231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0D93249-D64A-4F7A-B095-7AB00405567A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D4E9BFD-9606-4D74-B10B-F5DBCC382E29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3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F3F5FFA-7286-40B4-8BCE-55CF2CF1C2FB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2">
            <a:extLst>
              <a:ext uri="{FF2B5EF4-FFF2-40B4-BE49-F238E27FC236}">
                <a16:creationId xmlns:a16="http://schemas.microsoft.com/office/drawing/2014/main" id="{89BE5E97-FE1A-4A59-BC5D-C82F1BEA2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03020"/>
            <a:ext cx="228600" cy="22860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1098B02C-F7FE-41D6-8467-A485576AFD0F}"/>
              </a:ext>
            </a:extLst>
          </p:cNvPr>
          <p:cNvSpPr>
            <a:spLocks noGrp="1"/>
          </p:cNvSpPr>
          <p:nvPr/>
        </p:nvSpPr>
        <p:spPr>
          <a:xfrm>
            <a:off x="1097280" y="10972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Opportunity</a:t>
            </a:r>
            <a:endParaRPr sz="13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2D71A58-A33D-472F-BC04-C5208722039E}"/>
              </a:ext>
            </a:extLst>
          </p:cNvPr>
          <p:cNvSpPr>
            <a:spLocks noGrp="1"/>
          </p:cNvSpPr>
          <p:nvPr/>
        </p:nvSpPr>
        <p:spPr>
          <a:xfrm>
            <a:off x="2926080" y="109728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Early warning of U.S. manufacturing stress could support sector-level portfolio monitoring, but stress is rare (6.25% of months since 2000) and hard to anticipate.</a:t>
            </a:r>
            <a:endParaRPr sz="105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08753A75-938B-431B-BE26-0C7CF5EC1993}"/>
              </a:ext>
            </a:extLst>
          </p:cNvPr>
          <p:cNvSpPr>
            <a:spLocks noGrp="1"/>
          </p:cNvSpPr>
          <p:nvPr/>
        </p:nvSpPr>
        <p:spPr>
          <a:xfrm>
            <a:off x="1097280" y="1865376"/>
            <a:ext cx="758952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2DBEE8A1-603F-47A0-80E4-F97ED7560AB0}"/>
              </a:ext>
            </a:extLst>
          </p:cNvPr>
          <p:cNvSpPr>
            <a:spLocks noGrp="1"/>
          </p:cNvSpPr>
          <p:nvPr/>
        </p:nvSpPr>
        <p:spPr>
          <a:xfrm>
            <a:off x="457200" y="2084832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D9388222-A322-4A17-B406-18E66351CB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99132"/>
            <a:ext cx="228600" cy="2286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17A951AE-8C9A-4157-8E85-EA40945D537E}"/>
              </a:ext>
            </a:extLst>
          </p:cNvPr>
          <p:cNvSpPr>
            <a:spLocks noGrp="1"/>
          </p:cNvSpPr>
          <p:nvPr/>
        </p:nvSpPr>
        <p:spPr>
          <a:xfrm>
            <a:off x="1097280" y="199339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Our Solution</a:t>
            </a:r>
            <a:endParaRPr sz="13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743B8BF-1E94-4DC4-9DC5-716AD9C1E8D3}"/>
              </a:ext>
            </a:extLst>
          </p:cNvPr>
          <p:cNvSpPr>
            <a:spLocks noGrp="1"/>
          </p:cNvSpPr>
          <p:nvPr/>
        </p:nvSpPr>
        <p:spPr>
          <a:xfrm>
            <a:off x="2926080" y="1993392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A forecasting workbench where an LLM agent starts from a logistic-regression anchor, adds evidence-based reasoning within a ±0.03 bound, and keeps a versioned, auditable strategy memory.</a:t>
            </a:r>
            <a:endParaRPr sz="105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2A4B43CC-9080-4759-919E-43569F26C14F}"/>
              </a:ext>
            </a:extLst>
          </p:cNvPr>
          <p:cNvSpPr>
            <a:spLocks noGrp="1"/>
          </p:cNvSpPr>
          <p:nvPr/>
        </p:nvSpPr>
        <p:spPr>
          <a:xfrm>
            <a:off x="1097280" y="2761488"/>
            <a:ext cx="758952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EF86B211-50E0-4B0E-A688-2B08361F6D9A}"/>
              </a:ext>
            </a:extLst>
          </p:cNvPr>
          <p:cNvSpPr>
            <a:spLocks noGrp="1"/>
          </p:cNvSpPr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6F8363F6-DCCC-4C55-8776-749DFF450A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095244"/>
            <a:ext cx="228600" cy="22860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4010F6DA-4DAB-4FBB-BB4E-CA8DBECB6052}"/>
              </a:ext>
            </a:extLst>
          </p:cNvPr>
          <p:cNvSpPr>
            <a:spLocks noGrp="1"/>
          </p:cNvSpPr>
          <p:nvPr/>
        </p:nvSpPr>
        <p:spPr>
          <a:xfrm>
            <a:off x="1097280" y="2889504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</a:t>
            </a:r>
            <a:endParaRPr sz="13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3940B3B-890C-4558-89AD-8C57EB5714EC}"/>
              </a:ext>
            </a:extLst>
          </p:cNvPr>
          <p:cNvSpPr>
            <a:spLocks noGrp="1"/>
          </p:cNvSpPr>
          <p:nvPr/>
        </p:nvSpPr>
        <p:spPr>
          <a:xfrm>
            <a:off x="2926080" y="2889504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 84 monthly backtest origins (6 stress events), no model beat the historical-frequency baseline (Brier 0.0667). The bounded adaptive agent was close (0.0692); the unbounded LLM analyst was far worse (0.0979).</a:t>
            </a:r>
            <a:endParaRPr sz="105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BC2B6DDF-C9CB-4D93-8411-7412261ADB7D}"/>
              </a:ext>
            </a:extLst>
          </p:cNvPr>
          <p:cNvSpPr>
            <a:spLocks noGrp="1"/>
          </p:cNvSpPr>
          <p:nvPr/>
        </p:nvSpPr>
        <p:spPr>
          <a:xfrm>
            <a:off x="1097280" y="3657600"/>
            <a:ext cx="758952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AB7AC6A4-CC73-4177-8652-7180A55CAEFD}"/>
              </a:ext>
            </a:extLst>
          </p:cNvPr>
          <p:cNvSpPr>
            <a:spLocks noGrp="1"/>
          </p:cNvSpPr>
          <p:nvPr/>
        </p:nvSpPr>
        <p:spPr>
          <a:xfrm>
            <a:off x="457200" y="3877056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5">
            <a:extLst>
              <a:ext uri="{FF2B5EF4-FFF2-40B4-BE49-F238E27FC236}">
                <a16:creationId xmlns:a16="http://schemas.microsoft.com/office/drawing/2014/main" id="{B4BD0CA0-5D2B-4F51-98E6-2FA6605B9B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91356"/>
            <a:ext cx="228600" cy="228600"/>
          </a:xfrm>
          <a:prstGeom prst="rect">
            <a:avLst/>
          </a:prstGeom>
        </p:spPr>
      </p:pic>
      <p:sp>
        <p:nvSpPr>
          <p:cNvPr id="26" name="Text 18">
            <a:extLst>
              <a:ext uri="{FF2B5EF4-FFF2-40B4-BE49-F238E27FC236}">
                <a16:creationId xmlns:a16="http://schemas.microsoft.com/office/drawing/2014/main" id="{2D751417-1529-47A3-8342-E030AD13F441}"/>
              </a:ext>
            </a:extLst>
          </p:cNvPr>
          <p:cNvSpPr>
            <a:spLocks noGrp="1"/>
          </p:cNvSpPr>
          <p:nvPr/>
        </p:nvSpPr>
        <p:spPr>
          <a:xfrm>
            <a:off x="1097280" y="3785616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</a:t>
            </a:r>
            <a:endParaRPr sz="130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CF0D8E72-7D5D-4886-A75C-F477CF729822}"/>
              </a:ext>
            </a:extLst>
          </p:cNvPr>
          <p:cNvSpPr>
            <a:spLocks noGrp="1"/>
          </p:cNvSpPr>
          <p:nvPr/>
        </p:nvSpPr>
        <p:spPr>
          <a:xfrm>
            <a:off x="2926080" y="3785616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a frozen, prospective evaluation with immutable pre-outcome forecasts and more stress events, and add leading indicators before judging whether agents add skill.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3622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02EF3E-CEFC-4C15-8464-21B2DB41A5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046D1C-2131-4F62-B34A-20070905F150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WHY THIS MATTERS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40E26B-B3A6-4BF7-A5C4-EE4410E6149B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Business Problem &amp; Opportunity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C181C2DF-3337-47F0-AB4E-D8121755F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C5BEC807-4573-43E8-B494-FBDACC69E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DF7BA47-4C7B-4413-94D2-9AE627ACF624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03AF9DD-E5BA-4104-8C74-5EBFE5F5B010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4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FCD4D95-2034-4182-81CD-3FA96AB8E9EA}"/>
              </a:ext>
            </a:extLst>
          </p:cNvPr>
          <p:cNvSpPr>
            <a:spLocks noGrp="1"/>
          </p:cNvSpPr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Challenge</a:t>
            </a:r>
            <a:endParaRPr sz="13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38834DE-98B2-4816-ACF3-F0C504F921AD}"/>
              </a:ext>
            </a:extLst>
          </p:cNvPr>
          <p:cNvSpPr>
            <a:spLocks noGrp="1"/>
          </p:cNvSpPr>
          <p:nvPr/>
        </p:nvSpPr>
        <p:spPr>
          <a:xfrm>
            <a:off x="411480" y="1371600"/>
            <a:ext cx="393192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Credit teams monitor sector exposures and want earlier warning when an industry is heading into stress.</a:t>
            </a:r>
            <a:endParaRPr sz="100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Manufacturing stress is rare: 20 of 320 months (2000-2026) met our definition, clustered in 2008-09, 2020 and brief 2021-22 episodes.</a:t>
            </a:r>
            <a:endParaRPr sz="100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Traditional models struggle with few events, and analyst judgment is hard to make consistent and auditable.</a:t>
            </a:r>
            <a:endParaRPr sz="10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15D8AEE-6BCE-4AC3-9640-C9BC9A64F530}"/>
              </a:ext>
            </a:extLst>
          </p:cNvPr>
          <p:cNvSpPr>
            <a:spLocks noGrp="1"/>
          </p:cNvSpPr>
          <p:nvPr/>
        </p:nvSpPr>
        <p:spPr>
          <a:xfrm>
            <a:off x="411480" y="30632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Opportunity</a:t>
            </a:r>
            <a:endParaRPr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B6D5C7-52DC-4218-9BAA-8405F1FFF689}"/>
              </a:ext>
            </a:extLst>
          </p:cNvPr>
          <p:cNvSpPr>
            <a:spLocks noGrp="1"/>
          </p:cNvSpPr>
          <p:nvPr/>
        </p:nvSpPr>
        <p:spPr>
          <a:xfrm>
            <a:off x="411480" y="3383280"/>
            <a:ext cx="39319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Agents can read many signals, explain their view, and combine statistics with judgment.</a:t>
            </a:r>
            <a:endParaRPr sz="100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If governed well, they could scale analyst-style monitoring across sectors with a full audit trail.</a:t>
            </a:r>
            <a:endParaRPr sz="1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F472492-567C-431E-8F7F-17F29A383F22}"/>
              </a:ext>
            </a:extLst>
          </p:cNvPr>
          <p:cNvSpPr>
            <a:spLocks noGrp="1"/>
          </p:cNvSpPr>
          <p:nvPr/>
        </p:nvSpPr>
        <p:spPr>
          <a:xfrm>
            <a:off x="4572000" y="10515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Share of months in manufacturing stress, by year (%)</a:t>
            </a:r>
            <a:endParaRPr sz="105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155A03BA-4241-4136-BE0E-A1CC1EA3357E}"/>
              </a:ext>
            </a:extLst>
          </p:cNvPr>
          <p:cNvSpPr>
            <a:spLocks noGrp="1"/>
          </p:cNvSpPr>
          <p:nvPr/>
        </p:nvSpPr>
        <p:spPr>
          <a:xfrm>
            <a:off x="4572000" y="3886200"/>
            <a:ext cx="4251960" cy="77724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C88BFDD-282A-4123-871C-361F951D9660}"/>
              </a:ext>
            </a:extLst>
          </p:cNvPr>
          <p:cNvSpPr>
            <a:spLocks noGrp="1"/>
          </p:cNvSpPr>
          <p:nvPr/>
        </p:nvSpPr>
        <p:spPr>
          <a:xfrm>
            <a:off x="4681728" y="3913632"/>
            <a:ext cx="4069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Target definition: </a:t>
            </a: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a month is "stressed" when U.S. manufacturing production (FRED IPMAN) has fallen by 2% or more over the previous 3 months. We forecast this 3 months ahead.</a:t>
            </a:r>
            <a:endParaRPr sz="9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91CFF4-9CBF-4507-B1FF-26F84E2B56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000" t="25778" r="3500" b="25333"/>
          <a:stretch/>
        </p:blipFill>
        <p:spPr>
          <a:xfrm>
            <a:off x="4480560" y="1325880"/>
            <a:ext cx="43434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9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3CA12E-D79B-4D41-B99B-1D48EA35A4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299641-C5F2-4963-9B22-7F6252651259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BOOTCAMP INTENT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16C6A3-D106-4A86-BC10-09C661FA2930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We Set Out to Learn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7AE41CD-68FA-4706-BCD8-24E3D6B47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B40AF8CC-D5B2-4E61-BC45-1FF8B5E96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9153EBC-C43F-4791-AC21-319C818C2C27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9800EEB-C0F3-4CE2-B616-AD67642EACAE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5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DA2C546-F1D0-4D35-A084-5D528E0B7C67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goal was not a production model. We used a real, hard forecasting problem to learn how agentic forecasting systems should be built, tested and governed.</a:t>
            </a:r>
            <a:endParaRPr sz="115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1BAACFA-49AB-489E-9F51-FAD23D13B460}"/>
              </a:ext>
            </a:extLst>
          </p:cNvPr>
          <p:cNvSpPr>
            <a:spLocks noGrp="1"/>
          </p:cNvSpPr>
          <p:nvPr/>
        </p:nvSpPr>
        <p:spPr>
          <a:xfrm>
            <a:off x="411480" y="164592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EECFC44-1C04-4B81-AFF6-3019E3B46661}"/>
              </a:ext>
            </a:extLst>
          </p:cNvPr>
          <p:cNvSpPr>
            <a:spLocks noGrp="1"/>
          </p:cNvSpPr>
          <p:nvPr/>
        </p:nvSpPr>
        <p:spPr>
          <a:xfrm>
            <a:off x="594360" y="184708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080EC9A6-9BF7-424F-8D31-F15F135F1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1961388"/>
            <a:ext cx="228600" cy="2286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5A5CAF41-FE33-4BD8-91A8-1E62ABFB2B89}"/>
              </a:ext>
            </a:extLst>
          </p:cNvPr>
          <p:cNvSpPr>
            <a:spLocks noGrp="1"/>
          </p:cNvSpPr>
          <p:nvPr/>
        </p:nvSpPr>
        <p:spPr>
          <a:xfrm>
            <a:off x="1188720" y="1783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Can an LLM agent improve on a statistical forecast?</a:t>
            </a:r>
            <a:endParaRPr sz="115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615DCED-A155-4BBA-A18D-5B06356A2A76}"/>
              </a:ext>
            </a:extLst>
          </p:cNvPr>
          <p:cNvSpPr>
            <a:spLocks noGrp="1"/>
          </p:cNvSpPr>
          <p:nvPr/>
        </p:nvSpPr>
        <p:spPr>
          <a:xfrm>
            <a:off x="1188720" y="23317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agents against baselines on identical, leakage-safe backtests.</a:t>
            </a:r>
            <a:endParaRPr sz="95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B782053-5236-4AD1-BC72-D046C0A4D6E2}"/>
              </a:ext>
            </a:extLst>
          </p:cNvPr>
          <p:cNvSpPr>
            <a:spLocks noGrp="1"/>
          </p:cNvSpPr>
          <p:nvPr/>
        </p:nvSpPr>
        <p:spPr>
          <a:xfrm>
            <a:off x="4617720" y="164592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EA9EC25-A2EA-4687-A8F1-ADD70A6D35F1}"/>
              </a:ext>
            </a:extLst>
          </p:cNvPr>
          <p:cNvSpPr>
            <a:spLocks noGrp="1"/>
          </p:cNvSpPr>
          <p:nvPr/>
        </p:nvSpPr>
        <p:spPr>
          <a:xfrm>
            <a:off x="4800600" y="184708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49D78E79-9311-44B6-977E-596272AF0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1961388"/>
            <a:ext cx="228600" cy="22860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0487E54A-21DF-4496-9BC5-AD88E13D1BFD}"/>
              </a:ext>
            </a:extLst>
          </p:cNvPr>
          <p:cNvSpPr>
            <a:spLocks noGrp="1"/>
          </p:cNvSpPr>
          <p:nvPr/>
        </p:nvSpPr>
        <p:spPr>
          <a:xfrm>
            <a:off x="5394960" y="1783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do we keep an LLM forecaster safe?</a:t>
            </a:r>
            <a:endParaRPr sz="115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7CC562E-8823-4B9F-92F9-B4154676584D}"/>
              </a:ext>
            </a:extLst>
          </p:cNvPr>
          <p:cNvSpPr>
            <a:spLocks noGrp="1"/>
          </p:cNvSpPr>
          <p:nvPr/>
        </p:nvSpPr>
        <p:spPr>
          <a:xfrm>
            <a:off x="5394960" y="23317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Anchor the agent to a numerical model and bound how far it can move.</a:t>
            </a:r>
            <a:endParaRPr sz="95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D7AB9FFB-3EFB-4FA6-BF97-CF5BA96A37F2}"/>
              </a:ext>
            </a:extLst>
          </p:cNvPr>
          <p:cNvSpPr>
            <a:spLocks noGrp="1"/>
          </p:cNvSpPr>
          <p:nvPr/>
        </p:nvSpPr>
        <p:spPr>
          <a:xfrm>
            <a:off x="411480" y="310896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81685EEF-A694-4B20-9ED3-B0E1D1CFB4A3}"/>
              </a:ext>
            </a:extLst>
          </p:cNvPr>
          <p:cNvSpPr>
            <a:spLocks noGrp="1"/>
          </p:cNvSpPr>
          <p:nvPr/>
        </p:nvSpPr>
        <p:spPr>
          <a:xfrm>
            <a:off x="594360" y="331012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4">
            <a:extLst>
              <a:ext uri="{FF2B5EF4-FFF2-40B4-BE49-F238E27FC236}">
                <a16:creationId xmlns:a16="http://schemas.microsoft.com/office/drawing/2014/main" id="{1CCAAC30-1295-4E4C-8B31-F56999F9FE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424428"/>
            <a:ext cx="228600" cy="228600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5C0E319F-0637-4F49-9EA6-67A08D6CBFED}"/>
              </a:ext>
            </a:extLst>
          </p:cNvPr>
          <p:cNvSpPr>
            <a:spLocks noGrp="1"/>
          </p:cNvSpPr>
          <p:nvPr/>
        </p:nvSpPr>
        <p:spPr>
          <a:xfrm>
            <a:off x="1188720" y="32461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Can an agent learn from experience, transparently?</a:t>
            </a:r>
            <a:endParaRPr sz="115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5262D7F5-CAF7-4F94-A8D1-E7496B00619B}"/>
              </a:ext>
            </a:extLst>
          </p:cNvPr>
          <p:cNvSpPr>
            <a:spLocks noGrp="1"/>
          </p:cNvSpPr>
          <p:nvPr/>
        </p:nvSpPr>
        <p:spPr>
          <a:xfrm>
            <a:off x="1188720" y="37947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Give it a versioned strategy memory with gated updates and an audit log.</a:t>
            </a:r>
            <a:endParaRPr sz="95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02C68333-7A6F-4586-8154-07F9932A3F4F}"/>
              </a:ext>
            </a:extLst>
          </p:cNvPr>
          <p:cNvSpPr>
            <a:spLocks noGrp="1"/>
          </p:cNvSpPr>
          <p:nvPr/>
        </p:nvSpPr>
        <p:spPr>
          <a:xfrm>
            <a:off x="4617720" y="310896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F22ECFBB-2C29-419F-A0C4-CAC7088CF456}"/>
              </a:ext>
            </a:extLst>
          </p:cNvPr>
          <p:cNvSpPr>
            <a:spLocks noGrp="1"/>
          </p:cNvSpPr>
          <p:nvPr/>
        </p:nvSpPr>
        <p:spPr>
          <a:xfrm>
            <a:off x="4800600" y="331012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5">
            <a:extLst>
              <a:ext uri="{FF2B5EF4-FFF2-40B4-BE49-F238E27FC236}">
                <a16:creationId xmlns:a16="http://schemas.microsoft.com/office/drawing/2014/main" id="{CBB34049-19FC-4C53-9A9C-D2716C16E8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3424428"/>
            <a:ext cx="228600" cy="228600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6FB779CF-82AB-47AC-81F7-85D9D616E6D7}"/>
              </a:ext>
            </a:extLst>
          </p:cNvPr>
          <p:cNvSpPr>
            <a:spLocks noGrp="1"/>
          </p:cNvSpPr>
          <p:nvPr/>
        </p:nvSpPr>
        <p:spPr>
          <a:xfrm>
            <a:off x="5394960" y="32461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should we evaluate rare-event forecasts?</a:t>
            </a:r>
            <a:endParaRPr sz="115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F6FDCE38-0EE2-4759-8991-65F575DB565E}"/>
              </a:ext>
            </a:extLst>
          </p:cNvPr>
          <p:cNvSpPr>
            <a:spLocks noGrp="1"/>
          </p:cNvSpPr>
          <p:nvPr/>
        </p:nvSpPr>
        <p:spPr>
          <a:xfrm>
            <a:off x="5394960" y="37947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probability scoring, baselines, calibration and regime slices, and be honest about sample size.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834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B84507-4640-44FA-A6E4-94514C8B6E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DC6D06-256B-4992-8BAE-9BA24E8810D7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HIGH-LEVEL APPROACH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F0637F-95F1-4750-ACB1-CA1DEE861896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Our Solution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F090D3A2-F7BB-4A5D-AB6B-E59D239AA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7F3B6773-8726-451A-B2A7-1B4F692F4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364B891-A9A9-4979-9A46-54376867C759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4BC81E7-CF4C-43E8-B86F-54CB97926827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6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B1094C6-1C46-4EF2-872B-FA1107627FC5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83210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forecasting workbench that pairs a transparent statistical model with an LLM analyst. The model provides the starting probability; the agent reviews current evidence, explains its view, and can nudge the forecast only within a fixed bound. Every durable change to the agent's strategy is versioned and logged.</a:t>
            </a:r>
            <a:endParaRPr sz="11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972256A-F3EA-4D42-835D-B2226D82D4DA}"/>
              </a:ext>
            </a:extLst>
          </p:cNvPr>
          <p:cNvSpPr>
            <a:spLocks noGrp="1"/>
          </p:cNvSpPr>
          <p:nvPr/>
        </p:nvSpPr>
        <p:spPr>
          <a:xfrm>
            <a:off x="411480" y="1828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Key Capabilities</a:t>
            </a:r>
            <a:endParaRPr sz="13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0AC3EC1-46A3-49B1-9733-DC80C2192AE5}"/>
              </a:ext>
            </a:extLst>
          </p:cNvPr>
          <p:cNvSpPr>
            <a:spLocks noGrp="1"/>
          </p:cNvSpPr>
          <p:nvPr/>
        </p:nvSpPr>
        <p:spPr>
          <a:xfrm>
            <a:off x="411480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9007CFA-25ED-45EC-8738-6A6E887D7A95}"/>
              </a:ext>
            </a:extLst>
          </p:cNvPr>
          <p:cNvSpPr>
            <a:spLocks noGrp="1"/>
          </p:cNvSpPr>
          <p:nvPr/>
        </p:nvSpPr>
        <p:spPr>
          <a:xfrm>
            <a:off x="411480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72A199C-F9FE-4C07-A353-886C04239FF4}"/>
              </a:ext>
            </a:extLst>
          </p:cNvPr>
          <p:cNvSpPr>
            <a:spLocks noGrp="1"/>
          </p:cNvSpPr>
          <p:nvPr/>
        </p:nvSpPr>
        <p:spPr>
          <a:xfrm>
            <a:off x="594360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A4FB757C-0433-4252-9936-FCAA3D200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510028"/>
            <a:ext cx="228600" cy="22860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5C988F8C-8692-4E33-865F-5BBFA6FE5D0A}"/>
              </a:ext>
            </a:extLst>
          </p:cNvPr>
          <p:cNvSpPr>
            <a:spLocks noGrp="1"/>
          </p:cNvSpPr>
          <p:nvPr/>
        </p:nvSpPr>
        <p:spPr>
          <a:xfrm>
            <a:off x="594360" y="2926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numerical anchor</a:t>
            </a:r>
            <a:endParaRPr sz="1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4215888-8F8A-4103-B7F1-2C99EC2E1154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regression refit at each forecast date, using only data released by that date (FRED and Yahoo Finance).</a:t>
            </a:r>
            <a:endParaRPr sz="95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217DF4B-8DDA-4CC1-B694-A326626BC0E5}"/>
              </a:ext>
            </a:extLst>
          </p:cNvPr>
          <p:cNvSpPr>
            <a:spLocks noGrp="1"/>
          </p:cNvSpPr>
          <p:nvPr/>
        </p:nvSpPr>
        <p:spPr>
          <a:xfrm>
            <a:off x="3218688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00F81606-6431-4B70-B5CA-63E24C87A34F}"/>
              </a:ext>
            </a:extLst>
          </p:cNvPr>
          <p:cNvSpPr>
            <a:spLocks noGrp="1"/>
          </p:cNvSpPr>
          <p:nvPr/>
        </p:nvSpPr>
        <p:spPr>
          <a:xfrm>
            <a:off x="3218688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CE71B48-D7D8-4476-B10E-B409BDAAA329}"/>
              </a:ext>
            </a:extLst>
          </p:cNvPr>
          <p:cNvSpPr>
            <a:spLocks noGrp="1"/>
          </p:cNvSpPr>
          <p:nvPr/>
        </p:nvSpPr>
        <p:spPr>
          <a:xfrm>
            <a:off x="3401568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>
            <a:extLst>
              <a:ext uri="{FF2B5EF4-FFF2-40B4-BE49-F238E27FC236}">
                <a16:creationId xmlns:a16="http://schemas.microsoft.com/office/drawing/2014/main" id="{6E07B953-FEC4-4864-AA82-7D7A55398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868" y="2510028"/>
            <a:ext cx="228600" cy="22860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8B13C5B7-412F-40F8-AE7F-9B433CF770C5}"/>
              </a:ext>
            </a:extLst>
          </p:cNvPr>
          <p:cNvSpPr>
            <a:spLocks noGrp="1"/>
          </p:cNvSpPr>
          <p:nvPr/>
        </p:nvSpPr>
        <p:spPr>
          <a:xfrm>
            <a:off x="3401568" y="2926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Bounded LLM reasoning</a:t>
            </a:r>
            <a:endParaRPr sz="12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4557F29-95A9-4E95-8075-FD58581F7D1C}"/>
              </a:ext>
            </a:extLst>
          </p:cNvPr>
          <p:cNvSpPr>
            <a:spLocks noGrp="1"/>
          </p:cNvSpPr>
          <p:nvPr/>
        </p:nvSpPr>
        <p:spPr>
          <a:xfrm>
            <a:off x="3401568" y="338328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agent returns a probability, rationale, supporting and opposing evidence, and a risk direction. Its change to the anchor is capped at ±0.03.</a:t>
            </a:r>
            <a:endParaRPr sz="95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886DBDBC-9C44-47E4-9274-5D2F1D8CB7EC}"/>
              </a:ext>
            </a:extLst>
          </p:cNvPr>
          <p:cNvSpPr>
            <a:spLocks noGrp="1"/>
          </p:cNvSpPr>
          <p:nvPr/>
        </p:nvSpPr>
        <p:spPr>
          <a:xfrm>
            <a:off x="6025896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E5F321D1-A4E6-490D-AD16-B852E6D76F6C}"/>
              </a:ext>
            </a:extLst>
          </p:cNvPr>
          <p:cNvSpPr>
            <a:spLocks noGrp="1"/>
          </p:cNvSpPr>
          <p:nvPr/>
        </p:nvSpPr>
        <p:spPr>
          <a:xfrm>
            <a:off x="6025896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57103676-A3DB-421C-A118-717057EA4FEE}"/>
              </a:ext>
            </a:extLst>
          </p:cNvPr>
          <p:cNvSpPr>
            <a:spLocks noGrp="1"/>
          </p:cNvSpPr>
          <p:nvPr/>
        </p:nvSpPr>
        <p:spPr>
          <a:xfrm>
            <a:off x="6208776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>
            <a:extLst>
              <a:ext uri="{FF2B5EF4-FFF2-40B4-BE49-F238E27FC236}">
                <a16:creationId xmlns:a16="http://schemas.microsoft.com/office/drawing/2014/main" id="{E1031CB2-328D-4781-AADD-5A3AE4BAA9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2510028"/>
            <a:ext cx="228600" cy="228600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1D92CBA2-9AFA-4F15-B1D9-CB4FA66A5AC3}"/>
              </a:ext>
            </a:extLst>
          </p:cNvPr>
          <p:cNvSpPr>
            <a:spLocks noGrp="1"/>
          </p:cNvSpPr>
          <p:nvPr/>
        </p:nvSpPr>
        <p:spPr>
          <a:xfrm>
            <a:off x="6208776" y="2926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Governed adaptive memory</a:t>
            </a:r>
            <a:endParaRPr sz="12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2EFB9FA3-E2F0-42E1-B0FD-6EF5AC4FA923}"/>
              </a:ext>
            </a:extLst>
          </p:cNvPr>
          <p:cNvSpPr>
            <a:spLocks noGrp="1"/>
          </p:cNvSpPr>
          <p:nvPr/>
        </p:nvSpPr>
        <p:spPr>
          <a:xfrm>
            <a:off x="6208776" y="338328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record observations and hypotheses. A hypothesis needs 3 confirmations from distinct origins before it changes the strategy; every change is hash-linked.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37335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ARCHITECTURE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the Workbench Fits Together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E5E1393-A02D-4A8A-9E85-7FD132A0B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E1FF1264-AE35-4E0C-ACEE-D7DFDC543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7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noGrp="1"/>
          </p:cNvSpPr>
          <p:nvPr/>
        </p:nvSpPr>
        <p:spPr>
          <a:xfrm>
            <a:off x="411480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noGrp="1"/>
          </p:cNvSpPr>
          <p:nvPr/>
        </p:nvSpPr>
        <p:spPr>
          <a:xfrm>
            <a:off x="484632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data</a:t>
            </a:r>
            <a:endParaRPr sz="10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noGrp="1"/>
          </p:cNvSpPr>
          <p:nvPr/>
        </p:nvSpPr>
        <p:spPr>
          <a:xfrm>
            <a:off x="484632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IPMAN, macro and market series, filtered by release date</a:t>
            </a:r>
            <a:endParaRPr sz="8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noGrp="1"/>
          </p:cNvSpPr>
          <p:nvPr/>
        </p:nvSpPr>
        <p:spPr>
          <a:xfrm>
            <a:off x="1956816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noGrp="1"/>
          </p:cNvSpPr>
          <p:nvPr/>
        </p:nvSpPr>
        <p:spPr>
          <a:xfrm>
            <a:off x="2112264" y="1234440"/>
            <a:ext cx="1517904" cy="1097280"/>
          </a:xfrm>
          <a:prstGeom prst="rect">
            <a:avLst/>
          </a:prstGeom>
          <a:solidFill>
            <a:srgbClr val="E6F2FA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noGrp="1"/>
          </p:cNvSpPr>
          <p:nvPr/>
        </p:nvSpPr>
        <p:spPr>
          <a:xfrm>
            <a:off x="2185416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Logistic anchor</a:t>
            </a:r>
            <a:endParaRPr sz="10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noGrp="1"/>
          </p:cNvSpPr>
          <p:nvPr/>
        </p:nvSpPr>
        <p:spPr>
          <a:xfrm>
            <a:off x="2185416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Statistical probability (C = 0.001)</a:t>
            </a:r>
            <a:endParaRPr sz="85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noGrp="1"/>
          </p:cNvSpPr>
          <p:nvPr/>
        </p:nvSpPr>
        <p:spPr>
          <a:xfrm>
            <a:off x="3657600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noGrp="1"/>
          </p:cNvSpPr>
          <p:nvPr/>
        </p:nvSpPr>
        <p:spPr>
          <a:xfrm>
            <a:off x="3813048" y="1234440"/>
            <a:ext cx="1517904" cy="1097280"/>
          </a:xfrm>
          <a:prstGeom prst="rect">
            <a:avLst/>
          </a:prstGeom>
          <a:solidFill>
            <a:srgbClr val="FFF4DC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noGrp="1"/>
          </p:cNvSpPr>
          <p:nvPr/>
        </p:nvSpPr>
        <p:spPr>
          <a:xfrm>
            <a:off x="3886200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agent</a:t>
            </a:r>
            <a:endParaRPr sz="105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noGrp="1"/>
          </p:cNvSpPr>
          <p:nvPr/>
        </p:nvSpPr>
        <p:spPr>
          <a:xfrm>
            <a:off x="3886200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Reviews evidence and proposes a probability with rationale</a:t>
            </a:r>
            <a:endParaRPr sz="85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noGrp="1"/>
          </p:cNvSpPr>
          <p:nvPr/>
        </p:nvSpPr>
        <p:spPr>
          <a:xfrm>
            <a:off x="5358384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noGrp="1"/>
          </p:cNvSpPr>
          <p:nvPr/>
        </p:nvSpPr>
        <p:spPr>
          <a:xfrm>
            <a:off x="5513832" y="1234440"/>
            <a:ext cx="1517904" cy="1097280"/>
          </a:xfrm>
          <a:prstGeom prst="rect">
            <a:avLst/>
          </a:prstGeom>
          <a:solidFill>
            <a:srgbClr val="E8F3EE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noGrp="1"/>
          </p:cNvSpPr>
          <p:nvPr/>
        </p:nvSpPr>
        <p:spPr>
          <a:xfrm>
            <a:off x="5586984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±0.03 guardrail</a:t>
            </a:r>
            <a:endParaRPr sz="10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noGrp="1"/>
          </p:cNvSpPr>
          <p:nvPr/>
        </p:nvSpPr>
        <p:spPr>
          <a:xfrm>
            <a:off x="5586984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= anchor + bounded adjustment</a:t>
            </a:r>
            <a:endParaRPr sz="85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noGrp="1"/>
          </p:cNvSpPr>
          <p:nvPr/>
        </p:nvSpPr>
        <p:spPr>
          <a:xfrm>
            <a:off x="7059168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noGrp="1"/>
          </p:cNvSpPr>
          <p:nvPr/>
        </p:nvSpPr>
        <p:spPr>
          <a:xfrm>
            <a:off x="7214616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noGrp="1"/>
          </p:cNvSpPr>
          <p:nvPr/>
        </p:nvSpPr>
        <p:spPr>
          <a:xfrm>
            <a:off x="7287768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Forecast record</a:t>
            </a:r>
            <a:endParaRPr sz="10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noGrp="1"/>
          </p:cNvSpPr>
          <p:nvPr/>
        </p:nvSpPr>
        <p:spPr>
          <a:xfrm>
            <a:off x="7287768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Scored in backtest with Brier score</a:t>
            </a:r>
            <a:endParaRPr sz="85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noGrp="1"/>
          </p:cNvSpPr>
          <p:nvPr/>
        </p:nvSpPr>
        <p:spPr>
          <a:xfrm>
            <a:off x="4572000" y="2331720"/>
            <a:ext cx="0" cy="457200"/>
          </a:xfrm>
          <a:prstGeom prst="line">
            <a:avLst/>
          </a:prstGeom>
          <a:noFill/>
          <a:ln w="19050">
            <a:solidFill>
              <a:srgbClr val="2E7D5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noGrp="1"/>
          </p:cNvSpPr>
          <p:nvPr/>
        </p:nvSpPr>
        <p:spPr>
          <a:xfrm>
            <a:off x="2898648" y="2788920"/>
            <a:ext cx="3346704" cy="868680"/>
          </a:xfrm>
          <a:prstGeom prst="rect">
            <a:avLst/>
          </a:prstGeom>
          <a:solidFill>
            <a:srgbClr val="E8F3EE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noGrp="1"/>
          </p:cNvSpPr>
          <p:nvPr/>
        </p:nvSpPr>
        <p:spPr>
          <a:xfrm>
            <a:off x="2990088" y="2834640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memory (enabled for the adaptive agent)</a:t>
            </a:r>
            <a:endParaRPr sz="1050"/>
          </a:p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save observations and hypotheses to a versioned state that later prompts read. Every change writes a redacted audit event with before/after hashes.</a:t>
            </a:r>
            <a:endParaRPr sz="105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noGrp="1"/>
          </p:cNvSpPr>
          <p:nvPr/>
        </p:nvSpPr>
        <p:spPr>
          <a:xfrm>
            <a:off x="576072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the agent CAN change</a:t>
            </a:r>
            <a:endParaRPr sz="105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noGrp="1"/>
          </p:cNvSpPr>
          <p:nvPr/>
        </p:nvSpPr>
        <p:spPr>
          <a:xfrm>
            <a:off x="576072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Its proposed probability (within ±0.03) and the prompt-level strategy it reads next time.</a:t>
            </a:r>
            <a:endParaRPr sz="90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54864" cy="91440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noGrp="1"/>
          </p:cNvSpPr>
          <p:nvPr/>
        </p:nvSpPr>
        <p:spPr>
          <a:xfrm>
            <a:off x="3383280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it CANNOT change</a:t>
            </a:r>
            <a:endParaRPr sz="105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noGrp="1"/>
          </p:cNvSpPr>
          <p:nvPr/>
        </p:nvSpPr>
        <p:spPr>
          <a:xfrm>
            <a:off x="3383280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Data, features, target, model parameters or the anchor code. No retraining happens through the agent.</a:t>
            </a:r>
            <a:endParaRPr sz="9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noGrp="1"/>
          </p:cNvSpPr>
          <p:nvPr/>
        </p:nvSpPr>
        <p:spPr>
          <a:xfrm>
            <a:off x="6190488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Observability</a:t>
            </a:r>
            <a:endParaRPr sz="105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noGrp="1"/>
          </p:cNvSpPr>
          <p:nvPr/>
        </p:nvSpPr>
        <p:spPr>
          <a:xfrm>
            <a:off x="6190488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Optional Langfuse traces for each call, plus a local redacted audit log of strategy changes.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4D478B-D3A2-488B-9C13-11B434C608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16737F-969C-4A23-A083-9C3276297F42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DATA, MODELS AND EVALUATION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9FA33F-0FE1-4CA9-8B15-57103FC32DF7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Technical Approach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23324BDD-E678-4C38-B37A-8C1BAC95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C253C7D2-6EC1-4763-A6A2-F04D3D5D3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40F192F-B168-4404-BD01-46EC32993C9C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E71433F-8C0F-46D6-A605-E7BFAD1D062F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8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4380B9E-52AF-4253-80ED-C5807AD3A89E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 &amp; Models</a:t>
            </a:r>
            <a:endParaRPr sz="13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62F5A64-9075-4C01-8DF3-AB7F6116E818}"/>
              </a:ext>
            </a:extLst>
          </p:cNvPr>
          <p:cNvSpPr>
            <a:spLocks noGrp="1"/>
          </p:cNvSpPr>
          <p:nvPr/>
        </p:nvSpPr>
        <p:spPr>
          <a:xfrm>
            <a:off x="411480" y="1325880"/>
            <a:ext cx="4023360" cy="3383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Dataset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monthly inputs from public sources: IPMAN 1/3/6-month changes; Fed funds, 10y-2y spread, CPI, unemployment, jobless claims, VIX, Baa credit spread (FRED); SPY and XLI 3/12-month returns (Yahoo Finance).</a:t>
            </a:r>
            <a:endParaRPr sz="950"/>
          </a:p>
          <a:p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 control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forecast only sees data released by its date. IPMAN uses a conservative 1-month release lag.</a:t>
            </a:r>
            <a:endParaRPr sz="950"/>
          </a:p>
          <a:p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Models compared (7)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(baseline), logistic regression, XGBoost, hybrid anchor, LLM analyst agent, hybrid agent and adaptive agent.</a:t>
            </a:r>
            <a:endParaRPr sz="9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D68BB4B-7F0A-4A46-8D9C-49C98D728EA8}"/>
              </a:ext>
            </a:extLst>
          </p:cNvPr>
          <p:cNvSpPr>
            <a:spLocks noGrp="1"/>
          </p:cNvSpPr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Experiments &amp; Evaluation</a:t>
            </a:r>
            <a:endParaRPr sz="13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642D76D-8B35-4496-BD7B-0A3DABDBCEF0}"/>
              </a:ext>
            </a:extLst>
          </p:cNvPr>
          <p:cNvSpPr>
            <a:spLocks noGrp="1"/>
          </p:cNvSpPr>
          <p:nvPr/>
        </p:nvSpPr>
        <p:spPr>
          <a:xfrm>
            <a:off x="4663440" y="14081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E45218F-0CAC-451C-823B-860B0D847B05}"/>
              </a:ext>
            </a:extLst>
          </p:cNvPr>
          <p:cNvSpPr>
            <a:spLocks noGrp="1"/>
          </p:cNvSpPr>
          <p:nvPr/>
        </p:nvSpPr>
        <p:spPr>
          <a:xfrm>
            <a:off x="4663440" y="14081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BC2D61B-33DF-463A-918D-1039A031E347}"/>
              </a:ext>
            </a:extLst>
          </p:cNvPr>
          <p:cNvSpPr>
            <a:spLocks noGrp="1"/>
          </p:cNvSpPr>
          <p:nvPr/>
        </p:nvSpPr>
        <p:spPr>
          <a:xfrm>
            <a:off x="5074920" y="13716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Parameter sweep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candidates, 3 chronological folds (2000-2017)</a:t>
            </a:r>
            <a:endParaRPr sz="9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ED15E04-34AE-4BD4-941A-71CA00C4B4E7}"/>
              </a:ext>
            </a:extLst>
          </p:cNvPr>
          <p:cNvSpPr>
            <a:spLocks noGrp="1"/>
          </p:cNvSpPr>
          <p:nvPr/>
        </p:nvSpPr>
        <p:spPr>
          <a:xfrm>
            <a:off x="4663440" y="18653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D65C5C1-9B4F-4FBA-9D8E-0721321E4CA8}"/>
              </a:ext>
            </a:extLst>
          </p:cNvPr>
          <p:cNvSpPr>
            <a:spLocks noGrp="1"/>
          </p:cNvSpPr>
          <p:nvPr/>
        </p:nvSpPr>
        <p:spPr>
          <a:xfrm>
            <a:off x="4663440" y="18653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BC1E2C4-4134-4C21-90B9-23076C9EC44C}"/>
              </a:ext>
            </a:extLst>
          </p:cNvPr>
          <p:cNvSpPr>
            <a:spLocks noGrp="1"/>
          </p:cNvSpPr>
          <p:nvPr/>
        </p:nvSpPr>
        <p:spPr>
          <a:xfrm>
            <a:off x="5074920" y="18288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2018-2024 diagnostic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Sweep candidates re-scored on an already-inspected window</a:t>
            </a:r>
            <a:endParaRPr sz="9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7609D78-D062-4121-A018-0F3E08E0E68D}"/>
              </a:ext>
            </a:extLst>
          </p:cNvPr>
          <p:cNvSpPr>
            <a:spLocks noGrp="1"/>
          </p:cNvSpPr>
          <p:nvPr/>
        </p:nvSpPr>
        <p:spPr>
          <a:xfrm>
            <a:off x="4663440" y="23225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4D4E032-575A-442D-A5E5-9DCA4D1D3A25}"/>
              </a:ext>
            </a:extLst>
          </p:cNvPr>
          <p:cNvSpPr>
            <a:spLocks noGrp="1"/>
          </p:cNvSpPr>
          <p:nvPr/>
        </p:nvSpPr>
        <p:spPr>
          <a:xfrm>
            <a:off x="4663440" y="23225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9A0CF46-6E69-4EAB-A09E-70E43FACA5C1}"/>
              </a:ext>
            </a:extLst>
          </p:cNvPr>
          <p:cNvSpPr>
            <a:spLocks noGrp="1"/>
          </p:cNvSpPr>
          <p:nvPr/>
        </p:nvSpPr>
        <p:spPr>
          <a:xfrm>
            <a:off x="5074920" y="22860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All-model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7 models, 84 monthly origins (2018-2024), 6 stress events</a:t>
            </a:r>
            <a:endParaRPr sz="9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6A4BCB73-0FD7-459A-B39E-AA2D508C9B94}"/>
              </a:ext>
            </a:extLst>
          </p:cNvPr>
          <p:cNvSpPr>
            <a:spLocks noGrp="1"/>
          </p:cNvSpPr>
          <p:nvPr/>
        </p:nvSpPr>
        <p:spPr>
          <a:xfrm>
            <a:off x="4663440" y="27797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8BFB9FC-CFA9-4210-B78D-2C6C76FD964B}"/>
              </a:ext>
            </a:extLst>
          </p:cNvPr>
          <p:cNvSpPr>
            <a:spLocks noGrp="1"/>
          </p:cNvSpPr>
          <p:nvPr/>
        </p:nvSpPr>
        <p:spPr>
          <a:xfrm>
            <a:off x="4663440" y="27797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D97E3B9-74A6-4DC0-8D1C-F05912465169}"/>
              </a:ext>
            </a:extLst>
          </p:cNvPr>
          <p:cNvSpPr>
            <a:spLocks noGrp="1"/>
          </p:cNvSpPr>
          <p:nvPr/>
        </p:nvSpPr>
        <p:spPr>
          <a:xfrm>
            <a:off x="5074920" y="27432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model choice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Gemini Lite vs Gemini Advanced, read-only, same 84 origins</a:t>
            </a:r>
            <a:endParaRPr sz="9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D898936E-ED18-400A-8FCA-2000B61434F0}"/>
              </a:ext>
            </a:extLst>
          </p:cNvPr>
          <p:cNvSpPr>
            <a:spLocks noGrp="1"/>
          </p:cNvSpPr>
          <p:nvPr/>
        </p:nvSpPr>
        <p:spPr>
          <a:xfrm>
            <a:off x="4663440" y="32369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9924890E-209F-4F0C-9E99-2E6CB4CE8CEF}"/>
              </a:ext>
            </a:extLst>
          </p:cNvPr>
          <p:cNvSpPr>
            <a:spLocks noGrp="1"/>
          </p:cNvSpPr>
          <p:nvPr/>
        </p:nvSpPr>
        <p:spPr>
          <a:xfrm>
            <a:off x="4663440" y="32369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FA62B2F-3701-480C-AFEC-81D48160F47C}"/>
              </a:ext>
            </a:extLst>
          </p:cNvPr>
          <p:cNvSpPr>
            <a:spLocks noGrp="1"/>
          </p:cNvSpPr>
          <p:nvPr/>
        </p:nvSpPr>
        <p:spPr>
          <a:xfrm>
            <a:off x="5074920" y="32004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demo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One full hypothesis lifecycle with audited memory changes</a:t>
            </a:r>
            <a:endParaRPr sz="9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CF193712-E5A4-47DF-9E0A-FDA3E4367526}"/>
              </a:ext>
            </a:extLst>
          </p:cNvPr>
          <p:cNvSpPr>
            <a:spLocks noGrp="1"/>
          </p:cNvSpPr>
          <p:nvPr/>
        </p:nvSpPr>
        <p:spPr>
          <a:xfrm>
            <a:off x="4663440" y="3749040"/>
            <a:ext cx="4114800" cy="96012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1E88831B-43DE-4863-BB97-DBDAB1067E33}"/>
              </a:ext>
            </a:extLst>
          </p:cNvPr>
          <p:cNvSpPr>
            <a:spLocks noGrp="1"/>
          </p:cNvSpPr>
          <p:nvPr/>
        </p:nvSpPr>
        <p:spPr>
          <a:xfrm>
            <a:off x="4773168" y="3776472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Evaluation metrics</a:t>
            </a:r>
            <a:endParaRPr sz="1050"/>
          </a:p>
          <a:p>
            <a:pPr marL="0" indent="0">
              <a:buNone/>
            </a:pP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Brier score = mean of (forecast probability - actual 0/1)². Lower is better. Brier skill = 1 - model score / baseline score; positive means better than the historical base rate. Plus calibration and regime slices.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9971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AABB04-5F24-4388-9378-EEACA8728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69E9BC-255C-41BF-B1F2-66CFE1620FD6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DATA UNDERSTANDING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ACB1F6-BC71-4574-8ECC-37257619E8B2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the Data Told Us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123AEBBC-7432-4970-B3AF-E076C34E5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61147D15-CB70-4F07-A93C-D1BBB0C02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16284B6-152E-4081-9A28-5BC931E14B36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5EBC001-90BC-49F8-874B-7D4076517E1B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9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A5E6A6E-79EB-48BE-9A35-D4CE718CFB1A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Correlation with the stress label (same month)</a:t>
            </a:r>
            <a:endParaRPr sz="11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F1CFB9F-F328-40A6-A3C9-170269B017A0}"/>
              </a:ext>
            </a:extLst>
          </p:cNvPr>
          <p:cNvSpPr>
            <a:spLocks noGrp="1"/>
          </p:cNvSpPr>
          <p:nvPr/>
        </p:nvSpPr>
        <p:spPr>
          <a:xfrm>
            <a:off x="411480" y="361188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All six signs held under bootstrap and leave-one-out checks.</a:t>
            </a:r>
            <a:endParaRPr sz="85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76D5EF5-9A6C-4BA6-80B6-A97CDA82F41F}"/>
              </a:ext>
            </a:extLst>
          </p:cNvPr>
          <p:cNvSpPr>
            <a:spLocks noGrp="1"/>
          </p:cNvSpPr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Stress months look very different...</a:t>
            </a:r>
            <a:endParaRPr sz="110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FAA6A50C-A7D7-4C5A-A153-00A24D7EB534}"/>
              </a:ext>
            </a:extLst>
          </p:cNvPr>
          <p:cNvGraphicFramePr/>
          <p:nvPr/>
        </p:nvGraphicFramePr>
        <p:xfrm>
          <a:off x="4846320" y="1325880"/>
          <a:ext cx="39319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Signal (average)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Normal months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Stress months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VIX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18.8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35.3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Credit spread (pp)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2.34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4.04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Unemployment (%)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5.5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7.7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XLI 12m return (%)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+12.9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-22.6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8">
            <a:extLst>
              <a:ext uri="{FF2B5EF4-FFF2-40B4-BE49-F238E27FC236}">
                <a16:creationId xmlns:a16="http://schemas.microsoft.com/office/drawing/2014/main" id="{CA09D62F-123E-4C90-B926-EBF9BA549A15}"/>
              </a:ext>
            </a:extLst>
          </p:cNvPr>
          <p:cNvSpPr>
            <a:spLocks noGrp="1"/>
          </p:cNvSpPr>
          <p:nvPr/>
        </p:nvSpPr>
        <p:spPr>
          <a:xfrm>
            <a:off x="4846320" y="2926080"/>
            <a:ext cx="3931920" cy="1783080"/>
          </a:xfrm>
          <a:prstGeom prst="rect">
            <a:avLst/>
          </a:prstGeom>
          <a:solidFill>
            <a:srgbClr val="FFF4DC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F9A4A61-CBE2-441F-B59A-BF6DAAACD74C}"/>
              </a:ext>
            </a:extLst>
          </p:cNvPr>
          <p:cNvSpPr>
            <a:spLocks noGrp="1"/>
          </p:cNvSpPr>
          <p:nvPr/>
        </p:nvSpPr>
        <p:spPr>
          <a:xfrm>
            <a:off x="4983480" y="2999232"/>
            <a:ext cx="370332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...but mostly at the same time, not before</a:t>
            </a:r>
            <a:endParaRPr sz="110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Lagged correlations peak near zero lag: stress signals are largely coincident, not leading. That is the core reason a 3-month-ahead forecast is hard, whichever model is used.</a:t>
            </a:r>
            <a:endParaRPr sz="110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04A35EBF-246F-4919-979A-6156047E92CC}"/>
              </a:ext>
            </a:extLst>
          </p:cNvPr>
          <p:cNvSpPr>
            <a:spLocks noGrp="1"/>
          </p:cNvSpPr>
          <p:nvPr/>
        </p:nvSpPr>
        <p:spPr>
          <a:xfrm>
            <a:off x="411480" y="3931920"/>
            <a:ext cx="4206240" cy="77724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672BF70-38B6-468B-BCBF-263304DEEE21}"/>
              </a:ext>
            </a:extLst>
          </p:cNvPr>
          <p:cNvSpPr>
            <a:spLocks noGrp="1"/>
          </p:cNvSpPr>
          <p:nvPr/>
        </p:nvSpPr>
        <p:spPr>
          <a:xfrm>
            <a:off x="521208" y="3959352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 quality: no missing values in any series. Market series start in 1998-99, so the modelling window is 2000 onward (320 months, 20 stress months).</a:t>
            </a:r>
            <a:endParaRPr sz="9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8E9D4E-93EB-4160-8FD4-4451B5E964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00" t="24889" r="49500" b="30667"/>
          <a:stretch/>
        </p:blipFill>
        <p:spPr>
          <a:xfrm>
            <a:off x="320040" y="1280160"/>
            <a:ext cx="429768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7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551695-97D3-4E18-B5F6-AC0EC1C924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954C88-43EA-42C4-910D-ECB2B00D8F36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PARAMETER SWEEP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464E6B-986E-4096-95B9-B831ED9690A8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1: The Tuning Winner Did Not Hold Up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9311FC62-DA3E-437A-A47E-7E25D98C7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7953C178-174B-4C02-9E9B-D1753B6DF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8B012A1-6273-494A-8DB5-EDA768D7087D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F51C387-1F54-41E8-A4D2-A2D61BD31E8B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10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B5B6735-6A57-4859-84A0-84AD0EE6DE06}"/>
              </a:ext>
            </a:extLst>
          </p:cNvPr>
          <p:cNvSpPr>
            <a:spLocks noGrp="1"/>
          </p:cNvSpPr>
          <p:nvPr/>
        </p:nvSpPr>
        <p:spPr>
          <a:xfrm>
            <a:off x="5715000" y="10515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1st → last</a:t>
            </a:r>
            <a:endParaRPr sz="28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5DD5F0C-B3BE-4B52-8E45-829C87069E72}"/>
              </a:ext>
            </a:extLst>
          </p:cNvPr>
          <p:cNvSpPr>
            <a:spLocks noGrp="1"/>
          </p:cNvSpPr>
          <p:nvPr/>
        </p:nvSpPr>
        <p:spPr>
          <a:xfrm>
            <a:off x="5715000" y="158191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Logistic C=1.0 ranked first in tuning (+28.8% skill) and last on 2018-2024 (-554% skill).</a:t>
            </a:r>
            <a:endParaRPr sz="9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D5EBAAF-590E-4FAE-B282-7AAABE59B2E5}"/>
              </a:ext>
            </a:extLst>
          </p:cNvPr>
          <p:cNvSpPr>
            <a:spLocks noGrp="1"/>
          </p:cNvSpPr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Only 5 stress events in the tuning period, all in one fold (2006-2011).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No XGBoost setting beat the baseline in tuning; extra regularization did not help.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Lesson: with rare events, tuning can reward confident models that happen to fit one episode.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Action: we froze conservative choices (logistic C=0.001, regularized XGBoost) and did not retune on 2018-2024.</a:t>
            </a:r>
            <a:endParaRPr sz="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A17121-FE81-4245-A43A-15CD5413F6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00" t="19556" r="40500" b="10222"/>
          <a:stretch/>
        </p:blipFill>
        <p:spPr>
          <a:xfrm>
            <a:off x="320040" y="1005840"/>
            <a:ext cx="512064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1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ALL-MODEL COMPARISON, 84 ORIGINS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2: No Model Beat the Base Rate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B78A669D-6EA2-4D7A-A688-C87061745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3EB9C12C-BA25-4FC7-A095-3EB799E9B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11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noGrp="1"/>
          </p:cNvSpPr>
          <p:nvPr/>
        </p:nvSpPr>
        <p:spPr>
          <a:xfrm>
            <a:off x="411480" y="4343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2018-01 to 2024-12 origins; 6 stress events (7.1%).</a:t>
            </a:r>
            <a:endParaRPr sz="85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noGrp="1"/>
          </p:cNvSpPr>
          <p:nvPr/>
        </p:nvSpPr>
        <p:spPr>
          <a:xfrm>
            <a:off x="57150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-3.8%</a:t>
            </a:r>
            <a:endParaRPr sz="28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noGrp="1"/>
          </p:cNvSpPr>
          <p:nvPr/>
        </p:nvSpPr>
        <p:spPr>
          <a:xfrm>
            <a:off x="57150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Adaptive agent skill vs baseline</a:t>
            </a:r>
            <a:endParaRPr sz="9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noGrp="1"/>
          </p:cNvSpPr>
          <p:nvPr/>
        </p:nvSpPr>
        <p:spPr>
          <a:xfrm>
            <a:off x="73152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-46.8%</a:t>
            </a:r>
            <a:endParaRPr sz="28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noGrp="1"/>
          </p:cNvSpPr>
          <p:nvPr/>
        </p:nvSpPr>
        <p:spPr>
          <a:xfrm>
            <a:off x="73152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Unbounded LLM analyst skill vs baseline</a:t>
            </a:r>
            <a:endParaRPr sz="9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noGrp="1"/>
          </p:cNvSpPr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base rate won because events were rare and signals were coincident.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Agents tied to the anchor stayed close to it; the free-standing analyst was much worse.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Blending logistic with XGBoost never helped: the best of 11 tested weights was 100% logistic.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Six events is too few to call any gap statistically meaningful.</a:t>
            </a:r>
            <a:endParaRPr sz="9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7DB41F-6FE5-4667-9D66-CE5ECB7A66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00" t="19556" r="40500" b="16444"/>
          <a:stretch/>
        </p:blipFill>
        <p:spPr>
          <a:xfrm>
            <a:off x="320040" y="1005840"/>
            <a:ext cx="512064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B49B58-D374-4560-BF84-F4A8F53D91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50DA66-3499-4E62-B42E-73CA1155CB02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FORECASTS VS OUTCOMES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7CC546-AAD9-4F90-AAE2-CC0ADEB0BB25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3: Models Reacted Too Late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CE25F782-BD9B-4F1B-BE94-6954C754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8AB3AA91-CB0D-4478-B1D8-4C4001738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8987E84-6A71-404E-AC8D-8AC89E15B0A2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831FDE-C910-49F4-ACC8-81ED5CEE090C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12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D7BE929-8C9D-4E3E-8C77-4883EB68C56A}"/>
              </a:ext>
            </a:extLst>
          </p:cNvPr>
          <p:cNvSpPr>
            <a:spLocks noGrp="1"/>
          </p:cNvSpPr>
          <p:nvPr/>
        </p:nvSpPr>
        <p:spPr>
          <a:xfrm>
            <a:off x="411480" y="45262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X-axis: forecast origin (monthly, 2018-2024). Grey line = actual outcome at the forecast date.</a:t>
            </a:r>
            <a:endParaRPr sz="8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28D1B12-CA53-401B-9850-FBC12EF7D4BE}"/>
              </a:ext>
            </a:extLst>
          </p:cNvPr>
          <p:cNvSpPr>
            <a:spLocks noGrp="1"/>
          </p:cNvSpPr>
          <p:nvPr/>
        </p:nvSpPr>
        <p:spPr>
          <a:xfrm>
            <a:off x="6035040" y="1005840"/>
            <a:ext cx="2788920" cy="17830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60A9FD13-FA22-421A-A2F0-91951C93178C}"/>
              </a:ext>
            </a:extLst>
          </p:cNvPr>
          <p:cNvSpPr>
            <a:spLocks noGrp="1"/>
          </p:cNvSpPr>
          <p:nvPr/>
        </p:nvSpPr>
        <p:spPr>
          <a:xfrm>
            <a:off x="6035040" y="1005840"/>
            <a:ext cx="54864" cy="178308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DC65BEB-EB20-45BF-B54D-1913B4C3E0C9}"/>
              </a:ext>
            </a:extLst>
          </p:cNvPr>
          <p:cNvSpPr>
            <a:spLocks noGrp="1"/>
          </p:cNvSpPr>
          <p:nvPr/>
        </p:nvSpPr>
        <p:spPr>
          <a:xfrm>
            <a:off x="6199632" y="109728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All 6 stress events were missed</a:t>
            </a:r>
            <a:endParaRPr sz="11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4EF8E5F-DFC5-489A-A9D7-D1F76563A2A7}"/>
              </a:ext>
            </a:extLst>
          </p:cNvPr>
          <p:cNvSpPr>
            <a:spLocks noGrp="1"/>
          </p:cNvSpPr>
          <p:nvPr/>
        </p:nvSpPr>
        <p:spPr>
          <a:xfrm>
            <a:off x="6199632" y="1389888"/>
            <a:ext cx="251460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At the origins that preceded actual stress, the anchor and adaptive agent forecast 0.05-0.11 and the analyst 0.08-0.28.</a:t>
            </a:r>
            <a:endParaRPr sz="93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4EC4DD9-3EF1-4818-8DD2-EEE69521A567}"/>
              </a:ext>
            </a:extLst>
          </p:cNvPr>
          <p:cNvSpPr>
            <a:spLocks noGrp="1"/>
          </p:cNvSpPr>
          <p:nvPr/>
        </p:nvSpPr>
        <p:spPr>
          <a:xfrm>
            <a:off x="6035040" y="2926080"/>
            <a:ext cx="2788920" cy="17830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E43D2F87-2F34-463C-AC39-5982316D581B}"/>
              </a:ext>
            </a:extLst>
          </p:cNvPr>
          <p:cNvSpPr>
            <a:spLocks noGrp="1"/>
          </p:cNvSpPr>
          <p:nvPr/>
        </p:nvSpPr>
        <p:spPr>
          <a:xfrm>
            <a:off x="6035040" y="2926080"/>
            <a:ext cx="54864" cy="178308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C587696-034E-4552-BA81-A55A72B6A044}"/>
              </a:ext>
            </a:extLst>
          </p:cNvPr>
          <p:cNvSpPr>
            <a:spLocks noGrp="1"/>
          </p:cNvSpPr>
          <p:nvPr/>
        </p:nvSpPr>
        <p:spPr>
          <a:xfrm>
            <a:off x="6199632" y="30175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Peaks came too late</a:t>
            </a:r>
            <a:endParaRPr sz="11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E4AC485-0CEA-40E2-B2E0-D40F0042E4E4}"/>
              </a:ext>
            </a:extLst>
          </p:cNvPr>
          <p:cNvSpPr>
            <a:spLocks noGrp="1"/>
          </p:cNvSpPr>
          <p:nvPr/>
        </p:nvSpPr>
        <p:spPr>
          <a:xfrm>
            <a:off x="6199632" y="3310128"/>
            <a:ext cx="251460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Probabilities spiked at Apr-Jun 2020 origins, after the COVID drop was visible. By the forecast date production was recovering, so the outcome was 0.</a:t>
            </a:r>
            <a:endParaRPr sz="93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909A94-BE5F-41A6-B402-AEDFC0F4B2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00" t="18667" r="35500" b="12889"/>
          <a:stretch/>
        </p:blipFill>
        <p:spPr>
          <a:xfrm>
            <a:off x="320040" y="960120"/>
            <a:ext cx="5577840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7715A4-4D0F-4F17-8E52-ED5D98EA2E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5D65AF-C5DD-446C-89AD-8C63CC9D9420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BOUNDED AGENT ADJUSTMENTS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C7A0D5-F753-48BA-9DDC-A96595A9AFA3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4: The Guardrail Did Its Job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EAB33FEE-CD87-41E2-A151-C0FFA228A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2C23E0E8-50D7-4202-87DD-9E0EC89EF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15E6B2D-5288-4029-9BBE-DE8B33C97DF1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EF8B3F8-D1FF-44AD-8F8F-5D2A9B2A6D30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13</a:t>
            </a:r>
            <a:endParaRPr sz="75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2D6A4910-99AB-45CE-B33E-2C5AFFFCE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960120"/>
            <a:ext cx="5120640" cy="2987873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B13ED7C2-57F4-40F6-8DF6-B79EA35667B2}"/>
              </a:ext>
            </a:extLst>
          </p:cNvPr>
          <p:cNvSpPr>
            <a:spLocks noGrp="1"/>
          </p:cNvSpPr>
          <p:nvPr/>
        </p:nvSpPr>
        <p:spPr>
          <a:xfrm>
            <a:off x="411480" y="4023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Top: logistic anchor vs adaptive agent final probability. Bottom: applied adjustment per origin (capped at ±0.03).</a:t>
            </a:r>
            <a:endParaRPr sz="85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03966F7-D146-4696-A925-250E6D8E6D0E}"/>
              </a:ext>
            </a:extLst>
          </p:cNvPr>
          <p:cNvSpPr>
            <a:spLocks noGrp="1"/>
          </p:cNvSpPr>
          <p:nvPr/>
        </p:nvSpPr>
        <p:spPr>
          <a:xfrm>
            <a:off x="5715000" y="96012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8A317"/>
                </a:solidFill>
                <a:latin typeface="Arial"/>
                <a:ea typeface="Arial"/>
                <a:cs typeface="Arial"/>
              </a:rPr>
              <a:t>0.094</a:t>
            </a:r>
            <a:endParaRPr sz="28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AECD003-AAB8-49ED-971C-3DDF73783008}"/>
              </a:ext>
            </a:extLst>
          </p:cNvPr>
          <p:cNvSpPr>
            <a:spLocks noGrp="1"/>
          </p:cNvSpPr>
          <p:nvPr/>
        </p:nvSpPr>
        <p:spPr>
          <a:xfrm>
            <a:off x="5715000" y="14904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Average agent proposal</a:t>
            </a:r>
            <a:endParaRPr sz="9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CC8E606-124D-45EF-97D3-1F8CD69B4CF9}"/>
              </a:ext>
            </a:extLst>
          </p:cNvPr>
          <p:cNvSpPr>
            <a:spLocks noGrp="1"/>
          </p:cNvSpPr>
          <p:nvPr/>
        </p:nvSpPr>
        <p:spPr>
          <a:xfrm>
            <a:off x="6766560" y="96012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0.071</a:t>
            </a:r>
            <a:endParaRPr sz="28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9C05B8A-EC5D-4EF4-8F72-20046EDF30BD}"/>
              </a:ext>
            </a:extLst>
          </p:cNvPr>
          <p:cNvSpPr>
            <a:spLocks noGrp="1"/>
          </p:cNvSpPr>
          <p:nvPr/>
        </p:nvSpPr>
        <p:spPr>
          <a:xfrm>
            <a:off x="6766560" y="14904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Average anchor</a:t>
            </a:r>
            <a:endParaRPr sz="9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C139429-C8D5-492C-AD17-A5F7B6A87D7B}"/>
              </a:ext>
            </a:extLst>
          </p:cNvPr>
          <p:cNvSpPr>
            <a:spLocks noGrp="1"/>
          </p:cNvSpPr>
          <p:nvPr/>
        </p:nvSpPr>
        <p:spPr>
          <a:xfrm>
            <a:off x="7818120" y="96012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0.072</a:t>
            </a:r>
            <a:endParaRPr sz="28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768847D0-49A6-47D2-8009-69869CCC75C5}"/>
              </a:ext>
            </a:extLst>
          </p:cNvPr>
          <p:cNvSpPr>
            <a:spLocks noGrp="1"/>
          </p:cNvSpPr>
          <p:nvPr/>
        </p:nvSpPr>
        <p:spPr>
          <a:xfrm>
            <a:off x="7818120" y="14904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Average final forecast</a:t>
            </a:r>
            <a:endParaRPr sz="9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F054E80-E6C7-4653-B43D-E0F3043E2B02}"/>
              </a:ext>
            </a:extLst>
          </p:cNvPr>
          <p:cNvSpPr>
            <a:spLocks noGrp="1"/>
          </p:cNvSpPr>
          <p:nvPr/>
        </p:nvSpPr>
        <p:spPr>
          <a:xfrm>
            <a:off x="5715000" y="2103120"/>
            <a:ext cx="3108960" cy="2606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adaptive agent ran with memory updates enabled.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It wanted higher probabilities on average; the ±0.03 cap kept the final close to the anchor.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7 of 84 proposals hit the cap, including Apr-Jun 2020 when the agent proposed up to 0.85.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26 adjustments up, 58 down. Bounded agents: -3.8% to -6.0% skill vs -46.8% for the unbounded analyst.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47161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75C4BA-8405-4251-8C14-4852EF8907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42259B-CC28-4D44-8D69-92DC3026FDE5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LLM MODEL CHOICE (READ-ONLY)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CE9F3D-615D-4B80-9DCF-E7791DF19F27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5: A Stronger LLM Overreacted Less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FC7DCDAA-6D24-4B0A-A223-8AFAE6862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AA4D6DCA-DE63-45AE-9B2B-FB307480B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9AFD8CD-990A-4B06-8073-8BE77F53EC39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06FB874-1AA7-4B0C-83EF-6BA54E8E8928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14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F6E7A07-A09E-4BA6-8E24-7E925F3B19E4}"/>
              </a:ext>
            </a:extLst>
          </p:cNvPr>
          <p:cNvSpPr>
            <a:spLocks noGrp="1"/>
          </p:cNvSpPr>
          <p:nvPr/>
        </p:nvSpPr>
        <p:spPr>
          <a:xfrm>
            <a:off x="411480" y="4160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Brier, 84 paired origins, memory updates disabled. Separate experiment from the 7-model comparison.</a:t>
            </a:r>
            <a:endParaRPr sz="8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0FBF6FD-508B-4D88-A837-34BF2A872719}"/>
              </a:ext>
            </a:extLst>
          </p:cNvPr>
          <p:cNvSpPr>
            <a:spLocks noGrp="1"/>
          </p:cNvSpPr>
          <p:nvPr/>
        </p:nvSpPr>
        <p:spPr>
          <a:xfrm>
            <a:off x="3886200" y="10058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Where the gap came from</a:t>
            </a:r>
            <a:endParaRPr sz="110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0F0FC2E2-B256-4743-8FD7-AAB558593A2B}"/>
              </a:ext>
            </a:extLst>
          </p:cNvPr>
          <p:cNvGraphicFramePr/>
          <p:nvPr/>
        </p:nvGraphicFramePr>
        <p:xfrm>
          <a:off x="3886200" y="1325880"/>
          <a:ext cx="2743200" cy="102412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Lite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Advanced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2020-04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0.65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2020-05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0.85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0.15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2020-06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0.85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0.12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7">
            <a:extLst>
              <a:ext uri="{FF2B5EF4-FFF2-40B4-BE49-F238E27FC236}">
                <a16:creationId xmlns:a16="http://schemas.microsoft.com/office/drawing/2014/main" id="{66C9F0B8-1DEE-47F9-A3C2-FD7F83DAA32F}"/>
              </a:ext>
            </a:extLst>
          </p:cNvPr>
          <p:cNvSpPr>
            <a:spLocks noGrp="1"/>
          </p:cNvSpPr>
          <p:nvPr/>
        </p:nvSpPr>
        <p:spPr>
          <a:xfrm>
            <a:off x="6766560" y="12801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~98%</a:t>
            </a:r>
            <a:endParaRPr sz="280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7C0C65B-EBAB-4E8C-9CDD-C7DC956EFB00}"/>
              </a:ext>
            </a:extLst>
          </p:cNvPr>
          <p:cNvSpPr>
            <a:spLocks noGrp="1"/>
          </p:cNvSpPr>
          <p:nvPr/>
        </p:nvSpPr>
        <p:spPr>
          <a:xfrm>
            <a:off x="6766560" y="18105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of the 0.0197 Brier gap came from these 3 post-COVID origins</a:t>
            </a:r>
            <a:endParaRPr sz="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41C2BE2-B891-4445-B4F4-A60C898823CB}"/>
              </a:ext>
            </a:extLst>
          </p:cNvPr>
          <p:cNvSpPr>
            <a:spLocks noGrp="1"/>
          </p:cNvSpPr>
          <p:nvPr/>
        </p:nvSpPr>
        <p:spPr>
          <a:xfrm>
            <a:off x="3886200" y="25146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Gemini Advanced was not better at spotting stress: both models missed all 6 events.</a:t>
            </a:r>
            <a:endParaRPr sz="93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It was more willing to expect a rebound after the April 2020 trough.</a:t>
            </a:r>
            <a:endParaRPr sz="93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Risk directions agreed on only 50 of 84 origins (59.5%).</a:t>
            </a:r>
            <a:endParaRPr sz="93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Rationales sometimes quoted inconsistent inputs for the same month (e.g., 3-month IPMAN -4.05% vs -0.04% in Aug 2018); root cause still to be investigated.</a:t>
            </a:r>
            <a:endParaRPr sz="93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FC2AC7-DB56-4344-8700-5DA2BC4191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00" t="19556" r="60500" b="20000"/>
          <a:stretch/>
        </p:blipFill>
        <p:spPr>
          <a:xfrm>
            <a:off x="320040" y="1005840"/>
            <a:ext cx="329184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0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86248B-43C7-4169-957B-2BBA7CCD08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7AFF03-988F-4AFE-BE74-A49C7DC5B36C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GOVERNANCE DEMONSTRATION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1E1ADA-26B3-414B-88A0-268C34F321B6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6: Auditable Memory Works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6AEE8607-5E9D-4CAE-84EB-5CDAED044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015A314A-F484-4531-91A4-61CF38D02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61DEC25-A968-4EFD-B2B0-19D39DBB4E54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09390DA-DA78-4A8F-98E0-B7DC58A01CE5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15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F8A2B71-4772-4BBA-A76D-400FEF55EF74}"/>
              </a:ext>
            </a:extLst>
          </p:cNvPr>
          <p:cNvSpPr>
            <a:spLocks noGrp="1"/>
          </p:cNvSpPr>
          <p:nvPr/>
        </p:nvSpPr>
        <p:spPr>
          <a:xfrm>
            <a:off x="822960" y="105156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A47ADE7-A75F-4BF5-BF9B-05217BB03C82}"/>
              </a:ext>
            </a:extLst>
          </p:cNvPr>
          <p:cNvSpPr>
            <a:spLocks noGrp="1"/>
          </p:cNvSpPr>
          <p:nvPr/>
        </p:nvSpPr>
        <p:spPr>
          <a:xfrm>
            <a:off x="822960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3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9358E24-205B-4225-B24A-AF1FC4088F32}"/>
              </a:ext>
            </a:extLst>
          </p:cNvPr>
          <p:cNvSpPr>
            <a:spLocks noGrp="1"/>
          </p:cNvSpPr>
          <p:nvPr/>
        </p:nvSpPr>
        <p:spPr>
          <a:xfrm>
            <a:off x="132588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F29CBBC-EBEA-41D9-831A-7E076FDA0575}"/>
              </a:ext>
            </a:extLst>
          </p:cNvPr>
          <p:cNvSpPr>
            <a:spLocks noGrp="1"/>
          </p:cNvSpPr>
          <p:nvPr/>
        </p:nvSpPr>
        <p:spPr>
          <a:xfrm>
            <a:off x="411480" y="157276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Open</a:t>
            </a:r>
            <a:endParaRPr sz="10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A3A5D0C-3C65-4AC7-B5D6-A76F0380954A}"/>
              </a:ext>
            </a:extLst>
          </p:cNvPr>
          <p:cNvSpPr>
            <a:spLocks noGrp="1"/>
          </p:cNvSpPr>
          <p:nvPr/>
        </p:nvSpPr>
        <p:spPr>
          <a:xfrm>
            <a:off x="411480" y="18013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hyp-001 + initial evidence</a:t>
            </a:r>
            <a:endParaRPr sz="85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D7E9584-E155-4854-AE23-33F7E9B146A4}"/>
              </a:ext>
            </a:extLst>
          </p:cNvPr>
          <p:cNvSpPr>
            <a:spLocks noGrp="1"/>
          </p:cNvSpPr>
          <p:nvPr/>
        </p:nvSpPr>
        <p:spPr>
          <a:xfrm>
            <a:off x="2240280" y="105156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275FE43-3941-4F01-8D75-FBDFA51F7302}"/>
              </a:ext>
            </a:extLst>
          </p:cNvPr>
          <p:cNvSpPr>
            <a:spLocks noGrp="1"/>
          </p:cNvSpPr>
          <p:nvPr/>
        </p:nvSpPr>
        <p:spPr>
          <a:xfrm>
            <a:off x="2240280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3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35D6B34-21B1-4F24-91C6-57164F69B999}"/>
              </a:ext>
            </a:extLst>
          </p:cNvPr>
          <p:cNvSpPr>
            <a:spLocks noGrp="1"/>
          </p:cNvSpPr>
          <p:nvPr/>
        </p:nvSpPr>
        <p:spPr>
          <a:xfrm>
            <a:off x="274320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272C41C-EFF5-475C-92BF-20220900988E}"/>
              </a:ext>
            </a:extLst>
          </p:cNvPr>
          <p:cNvSpPr>
            <a:spLocks noGrp="1"/>
          </p:cNvSpPr>
          <p:nvPr/>
        </p:nvSpPr>
        <p:spPr>
          <a:xfrm>
            <a:off x="1828800" y="157276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Observe</a:t>
            </a:r>
            <a:endParaRPr sz="105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2EC2557-5068-4531-AFD4-5D8A6F478FD7}"/>
              </a:ext>
            </a:extLst>
          </p:cNvPr>
          <p:cNvSpPr>
            <a:spLocks noGrp="1"/>
          </p:cNvSpPr>
          <p:nvPr/>
        </p:nvSpPr>
        <p:spPr>
          <a:xfrm>
            <a:off x="1828800" y="18013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3 observations</a:t>
            </a:r>
            <a:endParaRPr sz="85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7609CBA8-6D05-471F-96A9-FD2FB45E6C26}"/>
              </a:ext>
            </a:extLst>
          </p:cNvPr>
          <p:cNvSpPr>
            <a:spLocks noGrp="1"/>
          </p:cNvSpPr>
          <p:nvPr/>
        </p:nvSpPr>
        <p:spPr>
          <a:xfrm>
            <a:off x="3657600" y="105156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B2647E1-0638-4301-A145-8F9856C51035}"/>
              </a:ext>
            </a:extLst>
          </p:cNvPr>
          <p:cNvSpPr>
            <a:spLocks noGrp="1"/>
          </p:cNvSpPr>
          <p:nvPr/>
        </p:nvSpPr>
        <p:spPr>
          <a:xfrm>
            <a:off x="3657600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3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A9D9084E-E78F-4588-B7A5-BD2F5DA46C7F}"/>
              </a:ext>
            </a:extLst>
          </p:cNvPr>
          <p:cNvSpPr>
            <a:spLocks noGrp="1"/>
          </p:cNvSpPr>
          <p:nvPr/>
        </p:nvSpPr>
        <p:spPr>
          <a:xfrm>
            <a:off x="416052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DEF7AAB-0665-48A3-B6BF-2A930811DCDD}"/>
              </a:ext>
            </a:extLst>
          </p:cNvPr>
          <p:cNvSpPr>
            <a:spLocks noGrp="1"/>
          </p:cNvSpPr>
          <p:nvPr/>
        </p:nvSpPr>
        <p:spPr>
          <a:xfrm>
            <a:off x="3246120" y="157276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Confirm</a:t>
            </a:r>
            <a:endParaRPr sz="10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0C32615-E6BF-4258-B23F-FB0A88B1610A}"/>
              </a:ext>
            </a:extLst>
          </p:cNvPr>
          <p:cNvSpPr>
            <a:spLocks noGrp="1"/>
          </p:cNvSpPr>
          <p:nvPr/>
        </p:nvSpPr>
        <p:spPr>
          <a:xfrm>
            <a:off x="3246120" y="18013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3 distinct origins</a:t>
            </a:r>
            <a:endParaRPr sz="85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A7BFB276-9BD0-4831-86B6-D52410612151}"/>
              </a:ext>
            </a:extLst>
          </p:cNvPr>
          <p:cNvSpPr>
            <a:spLocks noGrp="1"/>
          </p:cNvSpPr>
          <p:nvPr/>
        </p:nvSpPr>
        <p:spPr>
          <a:xfrm>
            <a:off x="5074920" y="105156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26BEDE7-3BE8-4526-B0BC-612B6E2DDDBD}"/>
              </a:ext>
            </a:extLst>
          </p:cNvPr>
          <p:cNvSpPr>
            <a:spLocks noGrp="1"/>
          </p:cNvSpPr>
          <p:nvPr/>
        </p:nvSpPr>
        <p:spPr>
          <a:xfrm>
            <a:off x="5074920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30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38AB647B-7711-4F2F-BFE0-4AFCBC90D2E2}"/>
              </a:ext>
            </a:extLst>
          </p:cNvPr>
          <p:cNvSpPr>
            <a:spLocks noGrp="1"/>
          </p:cNvSpPr>
          <p:nvPr/>
        </p:nvSpPr>
        <p:spPr>
          <a:xfrm>
            <a:off x="557784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D044B92-3140-43C1-8153-F643A9AFFFB9}"/>
              </a:ext>
            </a:extLst>
          </p:cNvPr>
          <p:cNvSpPr>
            <a:spLocks noGrp="1"/>
          </p:cNvSpPr>
          <p:nvPr/>
        </p:nvSpPr>
        <p:spPr>
          <a:xfrm>
            <a:off x="4663440" y="157276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Gate</a:t>
            </a:r>
            <a:endParaRPr sz="105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416A35C1-5701-4957-95D3-CAE74481569D}"/>
              </a:ext>
            </a:extLst>
          </p:cNvPr>
          <p:cNvSpPr>
            <a:spLocks noGrp="1"/>
          </p:cNvSpPr>
          <p:nvPr/>
        </p:nvSpPr>
        <p:spPr>
          <a:xfrm>
            <a:off x="4663440" y="18013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≥3 confirmations?</a:t>
            </a:r>
            <a:endParaRPr sz="85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4A343C43-E656-4030-BED5-C3DCA16B8588}"/>
              </a:ext>
            </a:extLst>
          </p:cNvPr>
          <p:cNvSpPr>
            <a:spLocks noGrp="1"/>
          </p:cNvSpPr>
          <p:nvPr/>
        </p:nvSpPr>
        <p:spPr>
          <a:xfrm>
            <a:off x="6492240" y="10515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71957013-4590-4518-BCED-5D1F2FE315C6}"/>
              </a:ext>
            </a:extLst>
          </p:cNvPr>
          <p:cNvSpPr>
            <a:spLocks noGrp="1"/>
          </p:cNvSpPr>
          <p:nvPr/>
        </p:nvSpPr>
        <p:spPr>
          <a:xfrm>
            <a:off x="6492240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30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61E3A88C-4980-410B-A312-786C714AFF81}"/>
              </a:ext>
            </a:extLst>
          </p:cNvPr>
          <p:cNvSpPr>
            <a:spLocks noGrp="1"/>
          </p:cNvSpPr>
          <p:nvPr/>
        </p:nvSpPr>
        <p:spPr>
          <a:xfrm>
            <a:off x="699516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52A1990F-566C-4A32-A73B-4A7700868D75}"/>
              </a:ext>
            </a:extLst>
          </p:cNvPr>
          <p:cNvSpPr>
            <a:spLocks noGrp="1"/>
          </p:cNvSpPr>
          <p:nvPr/>
        </p:nvSpPr>
        <p:spPr>
          <a:xfrm>
            <a:off x="6080760" y="157276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Graduate</a:t>
            </a:r>
            <a:endParaRPr sz="105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067161DC-5007-47A1-BB23-55D6C5FAF448}"/>
              </a:ext>
            </a:extLst>
          </p:cNvPr>
          <p:cNvSpPr>
            <a:spLocks noGrp="1"/>
          </p:cNvSpPr>
          <p:nvPr/>
        </p:nvSpPr>
        <p:spPr>
          <a:xfrm>
            <a:off x="6080760" y="18013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Calibration correction</a:t>
            </a:r>
            <a:endParaRPr sz="85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4A092E07-232C-4330-A9D0-235FAC0CCE5D}"/>
              </a:ext>
            </a:extLst>
          </p:cNvPr>
          <p:cNvSpPr>
            <a:spLocks noGrp="1"/>
          </p:cNvSpPr>
          <p:nvPr/>
        </p:nvSpPr>
        <p:spPr>
          <a:xfrm>
            <a:off x="7909560" y="10515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9F6A6CA2-F658-49E2-B865-8E206A958B35}"/>
              </a:ext>
            </a:extLst>
          </p:cNvPr>
          <p:cNvSpPr>
            <a:spLocks noGrp="1"/>
          </p:cNvSpPr>
          <p:nvPr/>
        </p:nvSpPr>
        <p:spPr>
          <a:xfrm>
            <a:off x="7909560" y="1051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3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DA26BC47-9717-49F2-97B8-77B1E662C6C7}"/>
              </a:ext>
            </a:extLst>
          </p:cNvPr>
          <p:cNvSpPr>
            <a:spLocks noGrp="1"/>
          </p:cNvSpPr>
          <p:nvPr/>
        </p:nvSpPr>
        <p:spPr>
          <a:xfrm>
            <a:off x="7498080" y="157276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Update</a:t>
            </a:r>
            <a:endParaRPr sz="105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A6870E04-0D22-4B4A-9B40-4EACDCC7839C}"/>
              </a:ext>
            </a:extLst>
          </p:cNvPr>
          <p:cNvSpPr>
            <a:spLocks noGrp="1"/>
          </p:cNvSpPr>
          <p:nvPr/>
        </p:nvSpPr>
        <p:spPr>
          <a:xfrm>
            <a:off x="7498080" y="18013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Approach narrative</a:t>
            </a:r>
            <a:endParaRPr sz="850"/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740EACAC-3696-4BD3-AB4F-FF8039E9A846}"/>
              </a:ext>
            </a:extLst>
          </p:cNvPr>
          <p:cNvSpPr>
            <a:spLocks noGrp="1"/>
          </p:cNvSpPr>
          <p:nvPr/>
        </p:nvSpPr>
        <p:spPr>
          <a:xfrm>
            <a:off x="4526280" y="2377440"/>
            <a:ext cx="2103120" cy="22860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A76CC59B-E969-466A-99DF-7D1DE93FFE44}"/>
              </a:ext>
            </a:extLst>
          </p:cNvPr>
          <p:cNvSpPr>
            <a:spLocks noGrp="1"/>
          </p:cNvSpPr>
          <p:nvPr/>
        </p:nvSpPr>
        <p:spPr>
          <a:xfrm>
            <a:off x="4526280" y="2377440"/>
            <a:ext cx="54864" cy="22860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27458C9C-33D4-445A-B8AA-761C09EE7B91}"/>
              </a:ext>
            </a:extLst>
          </p:cNvPr>
          <p:cNvSpPr>
            <a:spLocks noGrp="1"/>
          </p:cNvSpPr>
          <p:nvPr/>
        </p:nvSpPr>
        <p:spPr>
          <a:xfrm>
            <a:off x="4690872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it shows</a:t>
            </a:r>
            <a:endParaRPr sz="110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E4DD18F8-B34D-43CE-9B82-C63FF7B6AE50}"/>
              </a:ext>
            </a:extLst>
          </p:cNvPr>
          <p:cNvSpPr>
            <a:spLocks noGrp="1"/>
          </p:cNvSpPr>
          <p:nvPr/>
        </p:nvSpPr>
        <p:spPr>
          <a:xfrm>
            <a:off x="4690872" y="2761488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change has a timestamp, tool, version and before/after hash. The gate stopped a hypothesis from becoming guidance until 3 confirmations were recorded. Example outcome: adjust anchor 0.066 to 0.060.</a:t>
            </a:r>
            <a:endParaRPr sz="90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0978D02-0A42-4E65-AF3F-4414CF4B69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00" t="45333" r="52500" b="9333"/>
          <a:stretch/>
        </p:blipFill>
        <p:spPr>
          <a:xfrm>
            <a:off x="320040" y="2331720"/>
            <a:ext cx="4023360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18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F8C7AA-0E85-4A7F-A0E2-4A97756B6A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8C3D73-1616-4A2C-9028-7255DF608D07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DISCUSSION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2149B9-B222-4F77-8E62-377CE7DCB8B2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Challenges and How We Addressed Them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12D7C38A-05BF-40EF-B371-423E67173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AC335355-8DF3-4DFA-8A90-E29C94B65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2A53877-DD12-4E23-84F8-2FD9A4968E2C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D281E74-1F40-468A-BE7F-18D4C6FEC83B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16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10CECC3-5267-437D-8B98-325F9F0B72F2}"/>
              </a:ext>
            </a:extLst>
          </p:cNvPr>
          <p:cNvSpPr>
            <a:spLocks noGrp="1"/>
          </p:cNvSpPr>
          <p:nvPr/>
        </p:nvSpPr>
        <p:spPr>
          <a:xfrm>
            <a:off x="411480" y="105156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EB6DBB5-D413-454B-8E05-1FCCF80661D4}"/>
              </a:ext>
            </a:extLst>
          </p:cNvPr>
          <p:cNvSpPr>
            <a:spLocks noGrp="1"/>
          </p:cNvSpPr>
          <p:nvPr/>
        </p:nvSpPr>
        <p:spPr>
          <a:xfrm>
            <a:off x="548640" y="1216152"/>
            <a:ext cx="411480" cy="4114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>
            <a:extLst>
              <a:ext uri="{FF2B5EF4-FFF2-40B4-BE49-F238E27FC236}">
                <a16:creationId xmlns:a16="http://schemas.microsoft.com/office/drawing/2014/main" id="{E1CA02BA-E09D-41B6-8056-0ED403EBE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1319022"/>
            <a:ext cx="205740" cy="20574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C7DAC7F7-FE1B-4E59-A173-91901D93D0C5}"/>
              </a:ext>
            </a:extLst>
          </p:cNvPr>
          <p:cNvSpPr>
            <a:spLocks noGrp="1"/>
          </p:cNvSpPr>
          <p:nvPr/>
        </p:nvSpPr>
        <p:spPr>
          <a:xfrm>
            <a:off x="1097280" y="11430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Rare events (6 in the 84-origin backtest)</a:t>
            </a:r>
            <a:endParaRPr sz="105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DBBAA3E-3675-427E-BD85-A1A908DA6B3A}"/>
              </a:ext>
            </a:extLst>
          </p:cNvPr>
          <p:cNvSpPr>
            <a:spLocks noGrp="1"/>
          </p:cNvSpPr>
          <p:nvPr/>
        </p:nvSpPr>
        <p:spPr>
          <a:xfrm>
            <a:off x="1097280" y="14630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Scored against a base-rate benchmark, used chronological folds, and avoided claims of statistical significance.</a:t>
            </a:r>
            <a:endParaRPr sz="90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EC4BB54-B656-4094-AD07-D0D4B0D58A76}"/>
              </a:ext>
            </a:extLst>
          </p:cNvPr>
          <p:cNvSpPr>
            <a:spLocks noGrp="1"/>
          </p:cNvSpPr>
          <p:nvPr/>
        </p:nvSpPr>
        <p:spPr>
          <a:xfrm>
            <a:off x="4617720" y="105156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1F8123A-E8A2-457A-BDDE-FBBEB6ADE17D}"/>
              </a:ext>
            </a:extLst>
          </p:cNvPr>
          <p:cNvSpPr>
            <a:spLocks noGrp="1"/>
          </p:cNvSpPr>
          <p:nvPr/>
        </p:nvSpPr>
        <p:spPr>
          <a:xfrm>
            <a:off x="4754880" y="121615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377B9755-F426-400B-8E08-FF914DEA7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319022"/>
            <a:ext cx="205740" cy="20574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CB0C118E-DA24-4468-A024-EFB22634F667}"/>
              </a:ext>
            </a:extLst>
          </p:cNvPr>
          <p:cNvSpPr>
            <a:spLocks noGrp="1"/>
          </p:cNvSpPr>
          <p:nvPr/>
        </p:nvSpPr>
        <p:spPr>
          <a:xfrm>
            <a:off x="5303520" y="11430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Look-ahead leakage</a:t>
            </a:r>
            <a:endParaRPr sz="105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6C4E26B-A9CA-4989-AAEB-D313DEAFFBC0}"/>
              </a:ext>
            </a:extLst>
          </p:cNvPr>
          <p:cNvSpPr>
            <a:spLocks noGrp="1"/>
          </p:cNvSpPr>
          <p:nvPr/>
        </p:nvSpPr>
        <p:spPr>
          <a:xfrm>
            <a:off x="5303520" y="14630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Filtered every input by release date; applied a 1-month lag to IPMAN; audited what was visible at the latest origin.</a:t>
            </a:r>
            <a:endParaRPr sz="90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959407F4-7CAF-4F0A-8F9B-3829C114EE1C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39559859-E370-4295-8F34-85CEE5F9F329}"/>
              </a:ext>
            </a:extLst>
          </p:cNvPr>
          <p:cNvSpPr>
            <a:spLocks noGrp="1"/>
          </p:cNvSpPr>
          <p:nvPr/>
        </p:nvSpPr>
        <p:spPr>
          <a:xfrm>
            <a:off x="548640" y="245059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4">
            <a:extLst>
              <a:ext uri="{FF2B5EF4-FFF2-40B4-BE49-F238E27FC236}">
                <a16:creationId xmlns:a16="http://schemas.microsoft.com/office/drawing/2014/main" id="{196DB5CE-E333-423F-BE53-170C7C54ED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" y="2553462"/>
            <a:ext cx="205740" cy="205740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20869E56-2EC7-48E8-B83B-DDD0A5506918}"/>
              </a:ext>
            </a:extLst>
          </p:cNvPr>
          <p:cNvSpPr>
            <a:spLocks noGrp="1"/>
          </p:cNvSpPr>
          <p:nvPr/>
        </p:nvSpPr>
        <p:spPr>
          <a:xfrm>
            <a:off x="1097280" y="2377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Overfitting during tuning</a:t>
            </a:r>
            <a:endParaRPr sz="105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26D3C63D-41EF-4880-8822-2E119FFD57C8}"/>
              </a:ext>
            </a:extLst>
          </p:cNvPr>
          <p:cNvSpPr>
            <a:spLocks noGrp="1"/>
          </p:cNvSpPr>
          <p:nvPr/>
        </p:nvSpPr>
        <p:spPr>
          <a:xfrm>
            <a:off x="1097280" y="269748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Froze conservative settings and did not retune on the inspected 2018-2024 window.</a:t>
            </a:r>
            <a:endParaRPr sz="90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6EF58760-7CB1-49D5-88B7-B6681B933093}"/>
              </a:ext>
            </a:extLst>
          </p:cNvPr>
          <p:cNvSpPr>
            <a:spLocks noGrp="1"/>
          </p:cNvSpPr>
          <p:nvPr/>
        </p:nvSpPr>
        <p:spPr>
          <a:xfrm>
            <a:off x="4617720" y="228600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283B5C25-D649-4895-8D7D-3677F10DC0D5}"/>
              </a:ext>
            </a:extLst>
          </p:cNvPr>
          <p:cNvSpPr>
            <a:spLocks noGrp="1"/>
          </p:cNvSpPr>
          <p:nvPr/>
        </p:nvSpPr>
        <p:spPr>
          <a:xfrm>
            <a:off x="4754880" y="2450592"/>
            <a:ext cx="411480" cy="4114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5">
            <a:extLst>
              <a:ext uri="{FF2B5EF4-FFF2-40B4-BE49-F238E27FC236}">
                <a16:creationId xmlns:a16="http://schemas.microsoft.com/office/drawing/2014/main" id="{BF03949D-C966-4472-89A6-2F0C7BD13E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553462"/>
            <a:ext cx="205740" cy="205740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F2A61880-AE14-493A-8DEE-5E2AA2202709}"/>
              </a:ext>
            </a:extLst>
          </p:cNvPr>
          <p:cNvSpPr>
            <a:spLocks noGrp="1"/>
          </p:cNvSpPr>
          <p:nvPr/>
        </p:nvSpPr>
        <p:spPr>
          <a:xfrm>
            <a:off x="5303520" y="2377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overconfidence</a:t>
            </a:r>
            <a:endParaRPr sz="105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E9489443-408D-40DD-8F50-EE34C92172D0}"/>
              </a:ext>
            </a:extLst>
          </p:cNvPr>
          <p:cNvSpPr>
            <a:spLocks noGrp="1"/>
          </p:cNvSpPr>
          <p:nvPr/>
        </p:nvSpPr>
        <p:spPr>
          <a:xfrm>
            <a:off x="5303520" y="269748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Anchored agents to the logistic model and capped adjustments at ±0.03.</a:t>
            </a:r>
            <a:endParaRPr sz="90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D185804F-4FEA-4B18-A983-8AF0038A9EE5}"/>
              </a:ext>
            </a:extLst>
          </p:cNvPr>
          <p:cNvSpPr>
            <a:spLocks noGrp="1"/>
          </p:cNvSpPr>
          <p:nvPr/>
        </p:nvSpPr>
        <p:spPr>
          <a:xfrm>
            <a:off x="411480" y="352044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EDFEFF02-F99A-4DED-A734-7FB8C3770B58}"/>
              </a:ext>
            </a:extLst>
          </p:cNvPr>
          <p:cNvSpPr>
            <a:spLocks noGrp="1"/>
          </p:cNvSpPr>
          <p:nvPr/>
        </p:nvSpPr>
        <p:spPr>
          <a:xfrm>
            <a:off x="548640" y="368503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6">
            <a:extLst>
              <a:ext uri="{FF2B5EF4-FFF2-40B4-BE49-F238E27FC236}">
                <a16:creationId xmlns:a16="http://schemas.microsoft.com/office/drawing/2014/main" id="{FB9799FA-3C9A-43EF-9073-2AF765D11F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" y="3787902"/>
            <a:ext cx="205740" cy="205740"/>
          </a:xfrm>
          <a:prstGeom prst="rect">
            <a:avLst/>
          </a:prstGeom>
        </p:spPr>
      </p:pic>
      <p:sp>
        <p:nvSpPr>
          <p:cNvPr id="32" name="Text 23">
            <a:extLst>
              <a:ext uri="{FF2B5EF4-FFF2-40B4-BE49-F238E27FC236}">
                <a16:creationId xmlns:a16="http://schemas.microsoft.com/office/drawing/2014/main" id="{1C36FB66-D0F2-43D2-8295-E1544867DCAF}"/>
              </a:ext>
            </a:extLst>
          </p:cNvPr>
          <p:cNvSpPr>
            <a:spLocks noGrp="1"/>
          </p:cNvSpPr>
          <p:nvPr/>
        </p:nvSpPr>
        <p:spPr>
          <a:xfrm>
            <a:off x="1097280" y="36118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Unreliable explanations</a:t>
            </a:r>
            <a:endParaRPr sz="105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1F19A2B2-AD0E-4381-B3A2-DE1E59C67CE7}"/>
              </a:ext>
            </a:extLst>
          </p:cNvPr>
          <p:cNvSpPr>
            <a:spLocks noGrp="1"/>
          </p:cNvSpPr>
          <p:nvPr/>
        </p:nvSpPr>
        <p:spPr>
          <a:xfrm>
            <a:off x="1097280" y="393192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Logged rationale and evidence per forecast; flagged inconsistent quoted values for follow-up.</a:t>
            </a:r>
            <a:endParaRPr sz="900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6F1F0593-E8B0-4DC0-872E-606BD267D4E3}"/>
              </a:ext>
            </a:extLst>
          </p:cNvPr>
          <p:cNvSpPr>
            <a:spLocks noGrp="1"/>
          </p:cNvSpPr>
          <p:nvPr/>
        </p:nvSpPr>
        <p:spPr>
          <a:xfrm>
            <a:off x="4617720" y="352044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0BC14FA1-F6CA-47A1-AE33-F0A3F21D50F1}"/>
              </a:ext>
            </a:extLst>
          </p:cNvPr>
          <p:cNvSpPr>
            <a:spLocks noGrp="1"/>
          </p:cNvSpPr>
          <p:nvPr/>
        </p:nvSpPr>
        <p:spPr>
          <a:xfrm>
            <a:off x="4754880" y="368503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>
            <a:extLst>
              <a:ext uri="{FF2B5EF4-FFF2-40B4-BE49-F238E27FC236}">
                <a16:creationId xmlns:a16="http://schemas.microsoft.com/office/drawing/2014/main" id="{32BB9627-8846-461F-8F04-AF64C124F7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787902"/>
            <a:ext cx="205740" cy="205740"/>
          </a:xfrm>
          <a:prstGeom prst="rect">
            <a:avLst/>
          </a:prstGeom>
        </p:spPr>
      </p:pic>
      <p:sp>
        <p:nvSpPr>
          <p:cNvPr id="37" name="Text 27">
            <a:extLst>
              <a:ext uri="{FF2B5EF4-FFF2-40B4-BE49-F238E27FC236}">
                <a16:creationId xmlns:a16="http://schemas.microsoft.com/office/drawing/2014/main" id="{D7ABFF24-A031-4098-BAA8-6AF969F95EEA}"/>
              </a:ext>
            </a:extLst>
          </p:cNvPr>
          <p:cNvSpPr>
            <a:spLocks noGrp="1"/>
          </p:cNvSpPr>
          <p:nvPr/>
        </p:nvSpPr>
        <p:spPr>
          <a:xfrm>
            <a:off x="5303520" y="36118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Reproducibility and cost</a:t>
            </a:r>
            <a:endParaRPr sz="105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5D79D207-19BA-428A-87B8-A972311866C6}"/>
              </a:ext>
            </a:extLst>
          </p:cNvPr>
          <p:cNvSpPr>
            <a:spLocks noGrp="1"/>
          </p:cNvSpPr>
          <p:nvPr/>
        </p:nvSpPr>
        <p:spPr>
          <a:xfrm>
            <a:off x="5303520" y="393192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Cached agent runs; report builds make zero LLM calls and reproduce every chart from saved tables.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2418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2F66D9-D7EF-45F2-A69B-3A3CC14BA3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7DFBC4-E1DE-4DDE-89B8-F16DDAE78CE9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WHAT WE TAKE AWAY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5A8F54-B40E-4185-B830-C75F3033C3CA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Key Learnings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FF5A92A8-157F-4F88-8B00-FB41E98F0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491C814E-2F07-44A9-B328-E769B22B9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1FD3DEC-DA04-46E1-BEAB-E3D6F9EDB2C2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E8F4D13-8BAE-4F03-9AB2-7BF541870467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17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202FE3D-308D-40D5-A510-B893A0443B8A}"/>
              </a:ext>
            </a:extLst>
          </p:cNvPr>
          <p:cNvSpPr>
            <a:spLocks noGrp="1"/>
          </p:cNvSpPr>
          <p:nvPr/>
        </p:nvSpPr>
        <p:spPr>
          <a:xfrm>
            <a:off x="411480" y="102412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01</a:t>
            </a:r>
            <a:endParaRPr sz="26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A7AEB2B-199A-4006-86B6-E89864D5E6A2}"/>
              </a:ext>
            </a:extLst>
          </p:cNvPr>
          <p:cNvSpPr>
            <a:spLocks noGrp="1"/>
          </p:cNvSpPr>
          <p:nvPr/>
        </p:nvSpPr>
        <p:spPr>
          <a:xfrm>
            <a:off x="1143000" y="102412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Start with the base rate</a:t>
            </a:r>
            <a:endParaRPr sz="12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FFE0640-8CFB-44D5-9AF4-9B44EEC47EB0}"/>
              </a:ext>
            </a:extLst>
          </p:cNvPr>
          <p:cNvSpPr>
            <a:spLocks noGrp="1"/>
          </p:cNvSpPr>
          <p:nvPr/>
        </p:nvSpPr>
        <p:spPr>
          <a:xfrm>
            <a:off x="3840480" y="102412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For rare events, a simple historical frequency is a demanding benchmark. Beat it before adding complexity.</a:t>
            </a:r>
            <a:endParaRPr sz="10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7A8DAAF-A90E-4533-AE4E-8D014C293AEF}"/>
              </a:ext>
            </a:extLst>
          </p:cNvPr>
          <p:cNvSpPr>
            <a:spLocks noGrp="1"/>
          </p:cNvSpPr>
          <p:nvPr/>
        </p:nvSpPr>
        <p:spPr>
          <a:xfrm>
            <a:off x="1143000" y="168249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8970FB4-FD73-4088-8CF2-47F775897B8B}"/>
              </a:ext>
            </a:extLst>
          </p:cNvPr>
          <p:cNvSpPr>
            <a:spLocks noGrp="1"/>
          </p:cNvSpPr>
          <p:nvPr/>
        </p:nvSpPr>
        <p:spPr>
          <a:xfrm>
            <a:off x="411480" y="175564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02</a:t>
            </a:r>
            <a:endParaRPr sz="26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3EF5CFF-0532-40C0-9B9B-ACBD6B57922D}"/>
              </a:ext>
            </a:extLst>
          </p:cNvPr>
          <p:cNvSpPr>
            <a:spLocks noGrp="1"/>
          </p:cNvSpPr>
          <p:nvPr/>
        </p:nvSpPr>
        <p:spPr>
          <a:xfrm>
            <a:off x="1143000" y="175564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Anchor and bound the LLM</a:t>
            </a:r>
            <a:endParaRPr sz="12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46E2315-C581-4238-A2EA-48839BBC15DF}"/>
              </a:ext>
            </a:extLst>
          </p:cNvPr>
          <p:cNvSpPr>
            <a:spLocks noGrp="1"/>
          </p:cNvSpPr>
          <p:nvPr/>
        </p:nvSpPr>
        <p:spPr>
          <a:xfrm>
            <a:off x="3840480" y="175564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Unbounded LLM probabilities overreacted. A statistical anchor plus a small cap kept agents close to sound forecasts.</a:t>
            </a:r>
            <a:endParaRPr sz="10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1CC137A-3D5C-4C12-800D-D8D784DD73B0}"/>
              </a:ext>
            </a:extLst>
          </p:cNvPr>
          <p:cNvSpPr>
            <a:spLocks noGrp="1"/>
          </p:cNvSpPr>
          <p:nvPr/>
        </p:nvSpPr>
        <p:spPr>
          <a:xfrm>
            <a:off x="1143000" y="241401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31A4ED2-4D6F-4C18-B8AE-6D0EB8938BC7}"/>
              </a:ext>
            </a:extLst>
          </p:cNvPr>
          <p:cNvSpPr>
            <a:spLocks noGrp="1"/>
          </p:cNvSpPr>
          <p:nvPr/>
        </p:nvSpPr>
        <p:spPr>
          <a:xfrm>
            <a:off x="411480" y="248716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03</a:t>
            </a:r>
            <a:endParaRPr sz="26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07E62FA-11FF-4D61-9AEE-1C4A11924109}"/>
              </a:ext>
            </a:extLst>
          </p:cNvPr>
          <p:cNvSpPr>
            <a:spLocks noGrp="1"/>
          </p:cNvSpPr>
          <p:nvPr/>
        </p:nvSpPr>
        <p:spPr>
          <a:xfrm>
            <a:off x="1143000" y="248716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Signals matter more than models</a:t>
            </a:r>
            <a:endParaRPr sz="125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3744094-BFC5-4AD0-BD81-C2A515C5EDB3}"/>
              </a:ext>
            </a:extLst>
          </p:cNvPr>
          <p:cNvSpPr>
            <a:spLocks noGrp="1"/>
          </p:cNvSpPr>
          <p:nvPr/>
        </p:nvSpPr>
        <p:spPr>
          <a:xfrm>
            <a:off x="3840480" y="248716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inputs describe stress as it happens. Better leading indicators will matter more than a bigger model.</a:t>
            </a:r>
            <a:endParaRPr sz="100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9C34E6D-6BAA-4BE8-B31D-C789073E896A}"/>
              </a:ext>
            </a:extLst>
          </p:cNvPr>
          <p:cNvSpPr>
            <a:spLocks noGrp="1"/>
          </p:cNvSpPr>
          <p:nvPr/>
        </p:nvSpPr>
        <p:spPr>
          <a:xfrm>
            <a:off x="1143000" y="314553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404BCC4-2861-43CD-A82E-CEA43468CE62}"/>
              </a:ext>
            </a:extLst>
          </p:cNvPr>
          <p:cNvSpPr>
            <a:spLocks noGrp="1"/>
          </p:cNvSpPr>
          <p:nvPr/>
        </p:nvSpPr>
        <p:spPr>
          <a:xfrm>
            <a:off x="411480" y="321868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04</a:t>
            </a:r>
            <a:endParaRPr sz="260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D2654AA-EFED-4C63-A3BF-C5E5FFDB8C88}"/>
              </a:ext>
            </a:extLst>
          </p:cNvPr>
          <p:cNvSpPr>
            <a:spLocks noGrp="1"/>
          </p:cNvSpPr>
          <p:nvPr/>
        </p:nvSpPr>
        <p:spPr>
          <a:xfrm>
            <a:off x="1143000" y="321868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can come first</a:t>
            </a:r>
            <a:endParaRPr sz="12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05E53476-133B-4E26-BD2E-3DCFDCBA3736}"/>
              </a:ext>
            </a:extLst>
          </p:cNvPr>
          <p:cNvSpPr>
            <a:spLocks noGrp="1"/>
          </p:cNvSpPr>
          <p:nvPr/>
        </p:nvSpPr>
        <p:spPr>
          <a:xfrm>
            <a:off x="3840480" y="321868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Versioned memory, gated updates and audit logs can be built before accuracy is proven and make later evaluation credible.</a:t>
            </a:r>
            <a:endParaRPr sz="10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96F320B2-1EDD-4AEA-ADEC-D6FC9BB15A0B}"/>
              </a:ext>
            </a:extLst>
          </p:cNvPr>
          <p:cNvSpPr>
            <a:spLocks noGrp="1"/>
          </p:cNvSpPr>
          <p:nvPr/>
        </p:nvSpPr>
        <p:spPr>
          <a:xfrm>
            <a:off x="1143000" y="387705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EF9F2BF-C779-419F-A90A-08FD4A4A00D3}"/>
              </a:ext>
            </a:extLst>
          </p:cNvPr>
          <p:cNvSpPr>
            <a:spLocks noGrp="1"/>
          </p:cNvSpPr>
          <p:nvPr/>
        </p:nvSpPr>
        <p:spPr>
          <a:xfrm>
            <a:off x="411480" y="395020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05</a:t>
            </a:r>
            <a:endParaRPr sz="26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50ADF20-2F72-461B-945E-18A45715AB85}"/>
              </a:ext>
            </a:extLst>
          </p:cNvPr>
          <p:cNvSpPr>
            <a:spLocks noGrp="1"/>
          </p:cNvSpPr>
          <p:nvPr/>
        </p:nvSpPr>
        <p:spPr>
          <a:xfrm>
            <a:off x="1143000" y="395020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Be careful with explanations</a:t>
            </a:r>
            <a:endParaRPr sz="12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D4CBC18-5B44-454B-B952-1C196D647AC9}"/>
              </a:ext>
            </a:extLst>
          </p:cNvPr>
          <p:cNvSpPr>
            <a:spLocks noGrp="1"/>
          </p:cNvSpPr>
          <p:nvPr/>
        </p:nvSpPr>
        <p:spPr>
          <a:xfrm>
            <a:off x="3840480" y="395020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 rationales are useful for review but are not causal evidence and can quote inconsistent numbers.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43459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5B5AE7-86E3-4E2F-A146-D0169B4AE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66B350-0760-4B5F-868E-83B7567A390F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NEXT STEPS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1F2D6F-C6FA-4E07-8E51-58E91A3AC51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Future Work &amp; Opportunities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E49CAEED-DA12-4E75-B524-87FA12E9D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6048A0BC-9701-4F47-BE5E-8DEBBB871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ED3CA66-D0AD-437A-9D19-99ECD82600BA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B638595-26CC-4A9C-A147-EF41463AB83D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18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1D47574-DD3A-4276-8918-A78A2377D800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 to mature the proof of concept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9921904-01AC-4B3E-AB2D-B3A7C1B0FF51}"/>
              </a:ext>
            </a:extLst>
          </p:cNvPr>
          <p:cNvSpPr>
            <a:spLocks noGrp="1"/>
          </p:cNvSpPr>
          <p:nvPr/>
        </p:nvSpPr>
        <p:spPr>
          <a:xfrm>
            <a:off x="411480" y="144475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72B353E-E9EE-42DC-9255-E22185E13FEE}"/>
              </a:ext>
            </a:extLst>
          </p:cNvPr>
          <p:cNvSpPr>
            <a:spLocks noGrp="1"/>
          </p:cNvSpPr>
          <p:nvPr/>
        </p:nvSpPr>
        <p:spPr>
          <a:xfrm>
            <a:off x="411480" y="14447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1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D034589-CFB7-4985-A0FE-6C9255A2C4F4}"/>
              </a:ext>
            </a:extLst>
          </p:cNvPr>
          <p:cNvSpPr>
            <a:spLocks noGrp="1"/>
          </p:cNvSpPr>
          <p:nvPr/>
        </p:nvSpPr>
        <p:spPr>
          <a:xfrm>
            <a:off x="914400" y="1371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</a:t>
            </a:r>
            <a:endParaRPr sz="110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Freeze the configuration and log immutable forecasts before outcomes are known.</a:t>
            </a:r>
            <a:endParaRPr sz="11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6D32465-E375-45E0-8142-56D41D2FC141}"/>
              </a:ext>
            </a:extLst>
          </p:cNvPr>
          <p:cNvSpPr>
            <a:spLocks noGrp="1"/>
          </p:cNvSpPr>
          <p:nvPr/>
        </p:nvSpPr>
        <p:spPr>
          <a:xfrm>
            <a:off x="411480" y="226771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55117CC-BEE6-4FBA-B7A1-463673D5A036}"/>
              </a:ext>
            </a:extLst>
          </p:cNvPr>
          <p:cNvSpPr>
            <a:spLocks noGrp="1"/>
          </p:cNvSpPr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409A475-D825-4523-B202-FEBB1092066D}"/>
              </a:ext>
            </a:extLst>
          </p:cNvPr>
          <p:cNvSpPr>
            <a:spLocks noGrp="1"/>
          </p:cNvSpPr>
          <p:nvPr/>
        </p:nvSpPr>
        <p:spPr>
          <a:xfrm>
            <a:off x="914400" y="21945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 of memory</a:t>
            </a:r>
          </a:p>
          <a:p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memory-less hybrid agent with an adaptive agent going forward, with memory updated only from forecasts that have actually resolved, and over enough stress events to tell them apart.</a:t>
            </a:r>
            <a:endParaRPr sz="11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BCDBF91-2BA9-4449-9747-5FA28040DF9B}"/>
              </a:ext>
            </a:extLst>
          </p:cNvPr>
          <p:cNvSpPr>
            <a:spLocks noGrp="1"/>
          </p:cNvSpPr>
          <p:nvPr/>
        </p:nvSpPr>
        <p:spPr>
          <a:xfrm>
            <a:off x="411480" y="309067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C057176-A02B-40F4-8592-926817A2DC2B}"/>
              </a:ext>
            </a:extLst>
          </p:cNvPr>
          <p:cNvSpPr>
            <a:spLocks noGrp="1"/>
          </p:cNvSpPr>
          <p:nvPr/>
        </p:nvSpPr>
        <p:spPr>
          <a:xfrm>
            <a:off x="411480" y="3090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66792B0-A1FB-4F2C-BAD8-8A5F42D1BC68}"/>
              </a:ext>
            </a:extLst>
          </p:cNvPr>
          <p:cNvSpPr>
            <a:spLocks noGrp="1"/>
          </p:cNvSpPr>
          <p:nvPr/>
        </p:nvSpPr>
        <p:spPr>
          <a:xfrm>
            <a:off x="914400" y="301752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Leading indicators</a:t>
            </a:r>
            <a:endParaRPr sz="110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 forward-looking inputs (for example, new orders or surveys) and longer histories to capture more events.</a:t>
            </a:r>
            <a:endParaRPr sz="11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2475B51D-AA0B-4240-BFEF-869B3B810299}"/>
              </a:ext>
            </a:extLst>
          </p:cNvPr>
          <p:cNvSpPr>
            <a:spLocks noGrp="1"/>
          </p:cNvSpPr>
          <p:nvPr/>
        </p:nvSpPr>
        <p:spPr>
          <a:xfrm>
            <a:off x="411480" y="391363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DBF9EC7-68BD-4AFB-8DF2-0E44328B6A9F}"/>
              </a:ext>
            </a:extLst>
          </p:cNvPr>
          <p:cNvSpPr>
            <a:spLocks noGrp="1"/>
          </p:cNvSpPr>
          <p:nvPr/>
        </p:nvSpPr>
        <p:spPr>
          <a:xfrm>
            <a:off x="411480" y="39136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37D921F-60D5-4D2C-B0D7-E7FE0FE938DF}"/>
              </a:ext>
            </a:extLst>
          </p:cNvPr>
          <p:cNvSpPr>
            <a:spLocks noGrp="1"/>
          </p:cNvSpPr>
          <p:nvPr/>
        </p:nvSpPr>
        <p:spPr>
          <a:xfrm>
            <a:off x="914400" y="384048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Fix explanation quality</a:t>
            </a:r>
            <a:endParaRPr sz="110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inconsistent quoted inputs and validate rationales against the actual feature snapshot.</a:t>
            </a:r>
            <a:endParaRPr sz="110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4FDE013-2EEE-4FCE-8AA5-AC23B28DBD16}"/>
              </a:ext>
            </a:extLst>
          </p:cNvPr>
          <p:cNvSpPr>
            <a:spLocks noGrp="1"/>
          </p:cNvSpPr>
          <p:nvPr/>
        </p:nvSpPr>
        <p:spPr>
          <a:xfrm>
            <a:off x="4800600" y="1005840"/>
            <a:ext cx="4023360" cy="37033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C076CCD-0F29-434C-AD57-7163F2BA7732}"/>
              </a:ext>
            </a:extLst>
          </p:cNvPr>
          <p:cNvSpPr>
            <a:spLocks noGrp="1"/>
          </p:cNvSpPr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value</a:t>
            </a:r>
            <a:endParaRPr sz="13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8B7C8D3-ED0D-4BFC-90CB-1DD5D6256078}"/>
              </a:ext>
            </a:extLst>
          </p:cNvPr>
          <p:cNvSpPr>
            <a:spLocks noGrp="1"/>
          </p:cNvSpPr>
          <p:nvPr/>
        </p:nvSpPr>
        <p:spPr>
          <a:xfrm>
            <a:off x="5029200" y="1554480"/>
            <a:ext cx="361188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reusable pattern for sector early-warning monitoring: statistical anchor + bounded agent + audit trail.</a:t>
            </a:r>
            <a:endParaRPr sz="10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Analyst-style commentary at scale, with every forecast traceable to evidence and model version.</a:t>
            </a:r>
            <a:endParaRPr sz="10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governance template for agentic models in regulated settings: what the agent may change, how changes are gated, and how they are logged.</a:t>
            </a:r>
            <a:endParaRPr sz="10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workbench can be pointed at other industries or targets.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4896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ADAPTIVE LEARNING CONTROL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Outcome-grounded Adaptive Learning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E5E1393-A02D-4A8A-9E85-7FD132A0B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E1FF1264-AE35-4E0C-ACEE-D7DFDC543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19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noGrp="1"/>
          </p:cNvSpPr>
          <p:nvPr/>
        </p:nvSpPr>
        <p:spPr>
          <a:xfrm>
            <a:off x="411480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noGrp="1"/>
          </p:cNvSpPr>
          <p:nvPr/>
        </p:nvSpPr>
        <p:spPr>
          <a:xfrm>
            <a:off x="484632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Saved forecast</a:t>
            </a:r>
            <a:endParaRPr sz="10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noGrp="1"/>
          </p:cNvSpPr>
          <p:nvPr/>
        </p:nvSpPr>
        <p:spPr>
          <a:xfrm>
            <a:off x="484632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Immutable probability, anchor and stable origin ID</a:t>
            </a:r>
            <a:endParaRPr sz="8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noGrp="1"/>
          </p:cNvSpPr>
          <p:nvPr/>
        </p:nvSpPr>
        <p:spPr>
          <a:xfrm>
            <a:off x="1956816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noGrp="1"/>
          </p:cNvSpPr>
          <p:nvPr/>
        </p:nvSpPr>
        <p:spPr>
          <a:xfrm>
            <a:off x="2112264" y="1234440"/>
            <a:ext cx="1517904" cy="1097280"/>
          </a:xfrm>
          <a:prstGeom prst="rect">
            <a:avLst/>
          </a:prstGeom>
          <a:solidFill>
            <a:srgbClr val="E6F2FA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noGrp="1"/>
          </p:cNvSpPr>
          <p:nvPr/>
        </p:nvSpPr>
        <p:spPr>
          <a:xfrm>
            <a:off x="2185416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 pending</a:t>
            </a:r>
            <a:endParaRPr sz="10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noGrp="1"/>
          </p:cNvSpPr>
          <p:nvPr/>
        </p:nvSpPr>
        <p:spPr>
          <a:xfrm>
            <a:off x="2185416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Target remains hidden until its release date</a:t>
            </a:r>
            <a:endParaRPr sz="85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noGrp="1"/>
          </p:cNvSpPr>
          <p:nvPr/>
        </p:nvSpPr>
        <p:spPr>
          <a:xfrm>
            <a:off x="3657600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noGrp="1"/>
          </p:cNvSpPr>
          <p:nvPr/>
        </p:nvSpPr>
        <p:spPr>
          <a:xfrm>
            <a:off x="3813048" y="1234440"/>
            <a:ext cx="1517904" cy="1097280"/>
          </a:xfrm>
          <a:prstGeom prst="rect">
            <a:avLst/>
          </a:prstGeom>
          <a:solidFill>
            <a:srgbClr val="FFF4DC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noGrp="1"/>
          </p:cNvSpPr>
          <p:nvPr/>
        </p:nvSpPr>
        <p:spPr>
          <a:xfrm>
            <a:off x="3886200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Resolution ledger</a:t>
            </a:r>
            <a:endParaRPr sz="105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noGrp="1"/>
          </p:cNvSpPr>
          <p:nvPr/>
        </p:nvSpPr>
        <p:spPr>
          <a:xfrm>
            <a:off x="3886200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Only published outcomes become review evidence</a:t>
            </a:r>
            <a:endParaRPr sz="85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noGrp="1"/>
          </p:cNvSpPr>
          <p:nvPr/>
        </p:nvSpPr>
        <p:spPr>
          <a:xfrm>
            <a:off x="5358384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noGrp="1"/>
          </p:cNvSpPr>
          <p:nvPr/>
        </p:nvSpPr>
        <p:spPr>
          <a:xfrm>
            <a:off x="5513832" y="1234440"/>
            <a:ext cx="1517904" cy="1097280"/>
          </a:xfrm>
          <a:prstGeom prst="rect">
            <a:avLst/>
          </a:prstGeom>
          <a:solidFill>
            <a:srgbClr val="E8F3EE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noGrp="1"/>
          </p:cNvSpPr>
          <p:nvPr/>
        </p:nvSpPr>
        <p:spPr>
          <a:xfrm>
            <a:off x="5586984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review</a:t>
            </a:r>
            <a:endParaRPr sz="10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noGrp="1"/>
          </p:cNvSpPr>
          <p:nvPr/>
        </p:nvSpPr>
        <p:spPr>
          <a:xfrm>
            <a:off x="5586984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A dedicated reviewer evaluates newly resolved origins</a:t>
            </a:r>
            <a:endParaRPr sz="85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noGrp="1"/>
          </p:cNvSpPr>
          <p:nvPr/>
        </p:nvSpPr>
        <p:spPr>
          <a:xfrm>
            <a:off x="7059168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noGrp="1"/>
          </p:cNvSpPr>
          <p:nvPr/>
        </p:nvSpPr>
        <p:spPr>
          <a:xfrm>
            <a:off x="7214616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noGrp="1"/>
          </p:cNvSpPr>
          <p:nvPr/>
        </p:nvSpPr>
        <p:spPr>
          <a:xfrm>
            <a:off x="7287768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forecast</a:t>
            </a:r>
            <a:endParaRPr sz="10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noGrp="1"/>
          </p:cNvSpPr>
          <p:nvPr/>
        </p:nvSpPr>
        <p:spPr>
          <a:xfrm>
            <a:off x="7287768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Reads the latest versioned strategy</a:t>
            </a:r>
            <a:endParaRPr sz="85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noGrp="1"/>
          </p:cNvSpPr>
          <p:nvPr/>
        </p:nvSpPr>
        <p:spPr>
          <a:xfrm>
            <a:off x="4572000" y="2331720"/>
            <a:ext cx="0" cy="457200"/>
          </a:xfrm>
          <a:prstGeom prst="line">
            <a:avLst/>
          </a:prstGeom>
          <a:noFill/>
          <a:ln w="19050">
            <a:solidFill>
              <a:srgbClr val="2E7D5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noGrp="1"/>
          </p:cNvSpPr>
          <p:nvPr/>
        </p:nvSpPr>
        <p:spPr>
          <a:xfrm>
            <a:off x="2898648" y="2788920"/>
            <a:ext cx="3346704" cy="868680"/>
          </a:xfrm>
          <a:prstGeom prst="rect">
            <a:avLst/>
          </a:prstGeom>
          <a:solidFill>
            <a:srgbClr val="E8F3EE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noGrp="1"/>
          </p:cNvSpPr>
          <p:nvPr/>
        </p:nvSpPr>
        <p:spPr>
          <a:xfrm>
            <a:off x="2990088" y="2834640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skill_state.yaml: versioned strategy memory</a:t>
            </a:r>
            <a:endParaRPr sz="1050"/>
          </a:p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Stores observations, hypotheses and calibration rules. Typed tools control every change; the audit log records before/after hashes.</a:t>
            </a:r>
            <a:endParaRPr sz="105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noGrp="1"/>
          </p:cNvSpPr>
          <p:nvPr/>
        </p:nvSpPr>
        <p:spPr>
          <a:xfrm>
            <a:off x="576072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Hard refusal</a:t>
            </a:r>
            <a:endParaRPr sz="105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noGrp="1"/>
          </p:cNvSpPr>
          <p:nvPr/>
        </p:nvSpPr>
        <p:spPr>
          <a:xfrm>
            <a:off x="576072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unresolved or unknown origin cannot confirm or refute a hypothesis.</a:t>
            </a:r>
            <a:endParaRPr sz="90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54864" cy="91440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noGrp="1"/>
          </p:cNvSpPr>
          <p:nvPr/>
        </p:nvSpPr>
        <p:spPr>
          <a:xfrm>
            <a:off x="3383280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Promotion gate</a:t>
            </a:r>
            <a:endParaRPr sz="105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noGrp="1"/>
          </p:cNvSpPr>
          <p:nvPr/>
        </p:nvSpPr>
        <p:spPr>
          <a:xfrm>
            <a:off x="3383280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calibration rule needs 3 confirmations from distinct resolved origins.</a:t>
            </a:r>
            <a:endParaRPr sz="9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noGrp="1"/>
          </p:cNvSpPr>
          <p:nvPr/>
        </p:nvSpPr>
        <p:spPr>
          <a:xfrm>
            <a:off x="6190488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Auditability</a:t>
            </a:r>
            <a:endParaRPr sz="105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noGrp="1"/>
          </p:cNvSpPr>
          <p:nvPr/>
        </p:nvSpPr>
        <p:spPr>
          <a:xfrm>
            <a:off x="6190488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update records the review origin, tool, timestamp and before/after hashes.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2F66D9-D7EF-45F2-A69B-3A3CC14BA3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7DFBC4-E1DE-4DDE-89B8-F16DDAE78CE9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IMPLEMENTATION ADDITIONS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5A8F54-B40E-4185-B830-C75F3033C3CA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Changed in the Branch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FF5A92A8-157F-4F88-8B00-FB41E98F0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491C814E-2F07-44A9-B328-E769B22B9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1FD3DEC-DA04-46E1-BEAB-E3D6F9EDB2C2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E8F4D13-8BAE-4F03-9AB2-7BF541870467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20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202FE3D-308D-40D5-A510-B893A0443B8A}"/>
              </a:ext>
            </a:extLst>
          </p:cNvPr>
          <p:cNvSpPr>
            <a:spLocks noGrp="1"/>
          </p:cNvSpPr>
          <p:nvPr/>
        </p:nvSpPr>
        <p:spPr>
          <a:xfrm>
            <a:off x="411480" y="102412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01</a:t>
            </a:r>
            <a:endParaRPr sz="26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A7AEB2B-199A-4006-86B6-E89864D5E6A2}"/>
              </a:ext>
            </a:extLst>
          </p:cNvPr>
          <p:cNvSpPr>
            <a:spLocks noGrp="1"/>
          </p:cNvSpPr>
          <p:nvPr/>
        </p:nvSpPr>
        <p:spPr>
          <a:xfrm>
            <a:off x="1143000" y="102412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 ledger</a:t>
            </a:r>
            <a:endParaRPr sz="12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FFE0640-8CFB-44D5-9AF4-9B44EEC47EB0}"/>
              </a:ext>
            </a:extLst>
          </p:cNvPr>
          <p:cNvSpPr>
            <a:spLocks noGrp="1"/>
          </p:cNvSpPr>
          <p:nvPr/>
        </p:nvSpPr>
        <p:spPr>
          <a:xfrm>
            <a:off x="3840480" y="102412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cutoff-aware ledger hides every label until its release date and exposes stable origin IDs.</a:t>
            </a:r>
            <a:endParaRPr sz="10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7A8DAAF-A90E-4533-AE4E-8D014C293AEF}"/>
              </a:ext>
            </a:extLst>
          </p:cNvPr>
          <p:cNvSpPr>
            <a:spLocks noGrp="1"/>
          </p:cNvSpPr>
          <p:nvPr/>
        </p:nvSpPr>
        <p:spPr>
          <a:xfrm>
            <a:off x="1143000" y="168249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8970FB4-FD73-4088-8CF2-47F775897B8B}"/>
              </a:ext>
            </a:extLst>
          </p:cNvPr>
          <p:cNvSpPr>
            <a:spLocks noGrp="1"/>
          </p:cNvSpPr>
          <p:nvPr/>
        </p:nvSpPr>
        <p:spPr>
          <a:xfrm>
            <a:off x="411480" y="175564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02</a:t>
            </a:r>
            <a:endParaRPr sz="26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3EF5CFF-0532-40C0-9B9B-ACBD6B57922D}"/>
              </a:ext>
            </a:extLst>
          </p:cNvPr>
          <p:cNvSpPr>
            <a:spLocks noGrp="1"/>
          </p:cNvSpPr>
          <p:nvPr/>
        </p:nvSpPr>
        <p:spPr>
          <a:xfrm>
            <a:off x="1143000" y="175564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Separate strategy reviewer</a:t>
            </a:r>
            <a:endParaRPr sz="12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46E2315-C581-4238-A2EA-48839BBC15DF}"/>
              </a:ext>
            </a:extLst>
          </p:cNvPr>
          <p:cNvSpPr>
            <a:spLocks noGrp="1"/>
          </p:cNvSpPr>
          <p:nvPr/>
        </p:nvSpPr>
        <p:spPr>
          <a:xfrm>
            <a:off x="3840480" y="175564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Forecast calls read memory. A dedicated reviewer updates it only after outcomes resolve.</a:t>
            </a:r>
            <a:endParaRPr sz="10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1CC137A-3D5C-4C12-800D-D8D784DD73B0}"/>
              </a:ext>
            </a:extLst>
          </p:cNvPr>
          <p:cNvSpPr>
            <a:spLocks noGrp="1"/>
          </p:cNvSpPr>
          <p:nvPr/>
        </p:nvSpPr>
        <p:spPr>
          <a:xfrm>
            <a:off x="1143000" y="241401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31A4ED2-4D6F-4C18-B8AE-6D0EB8938BC7}"/>
              </a:ext>
            </a:extLst>
          </p:cNvPr>
          <p:cNvSpPr>
            <a:spLocks noGrp="1"/>
          </p:cNvSpPr>
          <p:nvPr/>
        </p:nvSpPr>
        <p:spPr>
          <a:xfrm>
            <a:off x="411480" y="248716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03</a:t>
            </a:r>
            <a:endParaRPr sz="26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07E62FA-11FF-4D61-9AEE-1C4A11924109}"/>
              </a:ext>
            </a:extLst>
          </p:cNvPr>
          <p:cNvSpPr>
            <a:spLocks noGrp="1"/>
          </p:cNvSpPr>
          <p:nvPr/>
        </p:nvSpPr>
        <p:spPr>
          <a:xfrm>
            <a:off x="1143000" y="248716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Enforced evidence gates</a:t>
            </a:r>
            <a:endParaRPr sz="125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3744094-BFC5-4AD0-BD81-C2A515C5EDB3}"/>
              </a:ext>
            </a:extLst>
          </p:cNvPr>
          <p:cNvSpPr>
            <a:spLocks noGrp="1"/>
          </p:cNvSpPr>
          <p:nvPr/>
        </p:nvSpPr>
        <p:spPr>
          <a:xfrm>
            <a:off x="3840480" y="248716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Tools reject unresolved IDs. Graduation needs confirmations from 3 distinct resolved origins.</a:t>
            </a:r>
            <a:endParaRPr sz="100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9C34E6D-6BAA-4BE8-B31D-C789073E896A}"/>
              </a:ext>
            </a:extLst>
          </p:cNvPr>
          <p:cNvSpPr>
            <a:spLocks noGrp="1"/>
          </p:cNvSpPr>
          <p:nvPr/>
        </p:nvSpPr>
        <p:spPr>
          <a:xfrm>
            <a:off x="1143000" y="314553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404BCC4-2861-43CD-A82E-CEA43468CE62}"/>
              </a:ext>
            </a:extLst>
          </p:cNvPr>
          <p:cNvSpPr>
            <a:spLocks noGrp="1"/>
          </p:cNvSpPr>
          <p:nvPr/>
        </p:nvSpPr>
        <p:spPr>
          <a:xfrm>
            <a:off x="411480" y="321868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04</a:t>
            </a:r>
            <a:endParaRPr sz="260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D2654AA-EFED-4C63-A3BF-C5E5FFDB8C88}"/>
              </a:ext>
            </a:extLst>
          </p:cNvPr>
          <p:cNvSpPr>
            <a:spLocks noGrp="1"/>
          </p:cNvSpPr>
          <p:nvPr/>
        </p:nvSpPr>
        <p:spPr>
          <a:xfrm>
            <a:off x="1143000" y="321868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Statistical evaluation</a:t>
            </a:r>
            <a:endParaRPr sz="12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05E53476-133B-4E26-BD2E-3DCFDCBA3736}"/>
              </a:ext>
            </a:extLst>
          </p:cNvPr>
          <p:cNvSpPr>
            <a:spLocks noGrp="1"/>
          </p:cNvSpPr>
          <p:nvPr/>
        </p:nvSpPr>
        <p:spPr>
          <a:xfrm>
            <a:off x="3840480" y="321868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Added 264-origin history, block-bootstrap intervals, HAC DM tests and Murphy decomposition.</a:t>
            </a:r>
            <a:endParaRPr sz="10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96F320B2-1EDD-4AEA-ADEC-D6FC9BB15A0B}"/>
              </a:ext>
            </a:extLst>
          </p:cNvPr>
          <p:cNvSpPr>
            <a:spLocks noGrp="1"/>
          </p:cNvSpPr>
          <p:nvPr/>
        </p:nvSpPr>
        <p:spPr>
          <a:xfrm>
            <a:off x="1143000" y="387705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EF9F2BF-C779-419F-A90A-08FD4A4A00D3}"/>
              </a:ext>
            </a:extLst>
          </p:cNvPr>
          <p:cNvSpPr>
            <a:spLocks noGrp="1"/>
          </p:cNvSpPr>
          <p:nvPr/>
        </p:nvSpPr>
        <p:spPr>
          <a:xfrm>
            <a:off x="411480" y="395020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05</a:t>
            </a:r>
            <a:endParaRPr sz="26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50ADF20-2F72-461B-945E-18A45715AB85}"/>
              </a:ext>
            </a:extLst>
          </p:cNvPr>
          <p:cNvSpPr>
            <a:spLocks noGrp="1"/>
          </p:cNvSpPr>
          <p:nvPr/>
        </p:nvSpPr>
        <p:spPr>
          <a:xfrm>
            <a:off x="1143000" y="395020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Reproducible validation</a:t>
            </a:r>
            <a:endParaRPr sz="12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D4CBC18-5B44-454B-B952-1C196D647AC9}"/>
              </a:ext>
            </a:extLst>
          </p:cNvPr>
          <p:cNvSpPr>
            <a:spLocks noGrp="1"/>
          </p:cNvSpPr>
          <p:nvPr/>
        </p:nvSpPr>
        <p:spPr>
          <a:xfrm>
            <a:off x="3840480" y="395020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Saved forecasts, reviews and hash-linked audit events. Four targeted learning tests pass.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43459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FULL-HISTORY EVALUATION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7: Base Rate Still Leads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B78A669D-6EA2-4D7A-A688-C87061745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3EB9C12C-BA25-4FC7-A095-3EB799E9B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21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noGrp="1"/>
          </p:cNvSpPr>
          <p:nvPr/>
        </p:nvSpPr>
        <p:spPr>
          <a:xfrm>
            <a:off x="411480" y="4343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264 monthly origins, 2003-2024; 20 stress outcomes.</a:t>
            </a:r>
            <a:endParaRPr sz="85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noGrp="1"/>
          </p:cNvSpPr>
          <p:nvPr/>
        </p:nvSpPr>
        <p:spPr>
          <a:xfrm>
            <a:off x="57150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-2.6%</a:t>
            </a:r>
            <a:endParaRPr sz="28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noGrp="1"/>
          </p:cNvSpPr>
          <p:nvPr/>
        </p:nvSpPr>
        <p:spPr>
          <a:xfrm>
            <a:off x="57150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Logistic skill vs historical frequency</a:t>
            </a:r>
            <a:endParaRPr sz="9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noGrp="1"/>
          </p:cNvSpPr>
          <p:nvPr/>
        </p:nvSpPr>
        <p:spPr>
          <a:xfrm>
            <a:off x="73152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-9.6%</a:t>
            </a:r>
            <a:endParaRPr sz="28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noGrp="1"/>
          </p:cNvSpPr>
          <p:nvPr/>
        </p:nvSpPr>
        <p:spPr>
          <a:xfrm>
            <a:off x="73152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XGBoost skill vs historical frequency</a:t>
            </a:r>
            <a:endParaRPr sz="9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noGrp="1"/>
          </p:cNvSpPr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scored 0.0710.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scored 0.0728; its +0.0018 gap had a 90% interval of -0.0008 to +0.0043 (p = 0.207).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XGBoost scored 0.0778; its +0.0068 gap was reliably worse (p = 0.0006).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longer history strengthens the conclusion that these inputs add little forward-looking separation.</a:t>
            </a:r>
            <a:endParaRPr sz="9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EB30BC-ECFA-4A45-AA3C-2F38C8EA8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0040" y="1006010"/>
            <a:ext cx="5120640" cy="32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OUTCOME-GROUNDED WALK-FORWARD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8: Governance Improved, Skill Did Not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B78A669D-6EA2-4D7A-A688-C87061745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3EB9C12C-BA25-4FC7-A095-3EB799E9B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22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noGrp="1"/>
          </p:cNvSpPr>
          <p:nvPr/>
        </p:nvSpPr>
        <p:spPr>
          <a:xfrm>
            <a:off x="411480" y="4343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76 resolved origins, 2006-2024; 6 stress outcomes.</a:t>
            </a:r>
            <a:endParaRPr sz="85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noGrp="1"/>
          </p:cNvSpPr>
          <p:nvPr/>
        </p:nvSpPr>
        <p:spPr>
          <a:xfrm>
            <a:off x="57150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-1.6%</a:t>
            </a:r>
            <a:endParaRPr sz="28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noGrp="1"/>
          </p:cNvSpPr>
          <p:nvPr/>
        </p:nvSpPr>
        <p:spPr>
          <a:xfrm>
            <a:off x="57150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skill vs baseline</a:t>
            </a:r>
            <a:endParaRPr sz="9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noGrp="1"/>
          </p:cNvSpPr>
          <p:nvPr/>
        </p:nvSpPr>
        <p:spPr>
          <a:xfrm>
            <a:off x="73152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p = 0.396</a:t>
            </a:r>
            <a:endParaRPr sz="28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noGrp="1"/>
          </p:cNvSpPr>
          <p:nvPr/>
        </p:nvSpPr>
        <p:spPr>
          <a:xfrm>
            <a:off x="73152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agent vs anchor</a:t>
            </a:r>
            <a:endParaRPr sz="9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noGrp="1"/>
          </p:cNvSpPr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reviewer ran 24 times and created 35 audited mutations.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Reviewed and no-review agents were nearly identical: 0.0756 vs 0.0755.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reviewed agent beat its anchor by 0.0013, but the gap was not significant.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Late-period performance was worse than the anchor, so the run does not show learning. It does show a valid, auditable test design.</a:t>
            </a:r>
            <a:endParaRPr sz="9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BD512C-4B2A-40ED-A380-D218ED1C9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0040" y="1006010"/>
            <a:ext cx="5120640" cy="32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B339BF6E-7574-49F0-B12B-AAC71D6E0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3383280" cy="3803904"/>
          </a:xfrm>
          <a:prstGeom prst="rect">
            <a:avLst/>
          </a:prstGeom>
        </p:spPr>
      </p:pic>
      <p:pic>
        <p:nvPicPr>
          <p:cNvPr id="3" name="Image 1">
            <a:extLst>
              <a:ext uri="{FF2B5EF4-FFF2-40B4-BE49-F238E27FC236}">
                <a16:creationId xmlns:a16="http://schemas.microsoft.com/office/drawing/2014/main" id="{8830FF4A-7960-4481-B7A8-883716DA1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4320"/>
            <a:ext cx="1097280" cy="4572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569AC677-C547-4B41-86AC-F662162A1D16}"/>
              </a:ext>
            </a:extLst>
          </p:cNvPr>
          <p:cNvSpPr>
            <a:spLocks noGrp="1"/>
          </p:cNvSpPr>
          <p:nvPr/>
        </p:nvSpPr>
        <p:spPr>
          <a:xfrm>
            <a:off x="6400800" y="246888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997E619C-3C10-4DB3-897A-3560E7090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29184"/>
            <a:ext cx="2194560" cy="30314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078D93B-88FF-44EA-8B2D-E46E9014D80E}"/>
              </a:ext>
            </a:extLst>
          </p:cNvPr>
          <p:cNvSpPr>
            <a:spLocks noGrp="1"/>
          </p:cNvSpPr>
          <p:nvPr/>
        </p:nvSpPr>
        <p:spPr>
          <a:xfrm>
            <a:off x="4389120" y="155448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You!</a:t>
            </a:r>
            <a:endParaRPr sz="40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BF55F48-5E6C-461B-8106-41FC8B8E966A}"/>
              </a:ext>
            </a:extLst>
          </p:cNvPr>
          <p:cNvSpPr>
            <a:spLocks noGrp="1"/>
          </p:cNvSpPr>
          <p:nvPr/>
        </p:nvSpPr>
        <p:spPr>
          <a:xfrm>
            <a:off x="4389120" y="23317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9DCEB"/>
                </a:solidFill>
                <a:latin typeface="Arial"/>
                <a:ea typeface="Arial"/>
                <a:cs typeface="Arial"/>
              </a:rPr>
              <a:t>Team BMO Two  |  Agentic AI Forecasting Bootcamp</a:t>
            </a:r>
            <a:endParaRPr sz="130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2001241-BC68-480D-A226-CFDCB8665CD4}"/>
              </a:ext>
            </a:extLst>
          </p:cNvPr>
          <p:cNvSpPr>
            <a:spLocks noGrp="1"/>
          </p:cNvSpPr>
          <p:nvPr/>
        </p:nvSpPr>
        <p:spPr>
          <a:xfrm>
            <a:off x="4389120" y="27432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8EC9EC"/>
                </a:solidFill>
                <a:latin typeface="Arial"/>
                <a:ea typeface="Arial"/>
                <a:cs typeface="Arial"/>
              </a:rPr>
              <a:t>Questions and feedback welcome</a:t>
            </a:r>
            <a:endParaRPr sz="11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C5A0EF5-B279-45E8-A20E-9F568922A93B}"/>
              </a:ext>
            </a:extLst>
          </p:cNvPr>
          <p:cNvSpPr>
            <a:spLocks noGrp="1"/>
          </p:cNvSpPr>
          <p:nvPr/>
        </p:nvSpPr>
        <p:spPr>
          <a:xfrm>
            <a:off x="4389120" y="33832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Mina Attari  ·  Nitya Joshi  ·  Pratyush Patodia  ·  Vaibhav K Beohar  ·  Navid Sabbaghi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3510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3201</Words>
  <Application>Microsoft Office PowerPoint</Application>
  <DocSecurity>0</DocSecurity>
  <PresentationFormat>On-screen Show (16:9)</PresentationFormat>
  <Paragraphs>385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Mina Attari</cp:lastModifiedBy>
  <cp:revision>2</cp:revision>
  <dcterms:created xsi:type="dcterms:W3CDTF">2026-10-09T04:52:11Z</dcterms:created>
  <dcterms:modified xsi:type="dcterms:W3CDTF">2026-10-21T13:57:20Z</dcterms:modified>
</cp:coreProperties>
</file>